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embeddedFontLst>
    <p:embeddedFont>
      <p:font typeface="Century Gothic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28" roundtripDataSignature="AMtx7mhwpd3Mfp6wBrJi8ftL9PbgJQ+k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CenturyGothic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enturyGothic-italic.fntdata"/><Relationship Id="rId25" Type="http://schemas.openxmlformats.org/officeDocument/2006/relationships/font" Target="fonts/CenturyGothic-bold.fntdata"/><Relationship Id="rId28" Type="http://customschemas.google.com/relationships/presentationmetadata" Target="metadata"/><Relationship Id="rId27" Type="http://schemas.openxmlformats.org/officeDocument/2006/relationships/font" Target="fonts/CenturyGothic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Diapositiva de título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/>
          <p:nvPr/>
        </p:nvSpPr>
        <p:spPr>
          <a:xfrm rot="-5400000">
            <a:off x="7554353" y="5254283"/>
            <a:ext cx="1892949" cy="1294228"/>
          </a:xfrm>
          <a:prstGeom prst="triangle">
            <a:avLst>
              <a:gd fmla="val 51323" name="adj"/>
            </a:avLst>
          </a:prstGeom>
          <a:gradFill>
            <a:gsLst>
              <a:gs pos="0">
                <a:srgbClr val="B2004A"/>
              </a:gs>
              <a:gs pos="60000">
                <a:srgbClr val="FF0082"/>
              </a:gs>
              <a:gs pos="100000">
                <a:srgbClr val="FF66A4"/>
              </a:gs>
            </a:gsLst>
            <a:lin ang="155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" name="Google Shape;20;p20"/>
          <p:cNvSpPr txBox="1"/>
          <p:nvPr>
            <p:ph type="ctrTitle"/>
          </p:nvPr>
        </p:nvSpPr>
        <p:spPr>
          <a:xfrm>
            <a:off x="540544" y="776288"/>
            <a:ext cx="8062912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4400"/>
              <a:buFont typeface="Century Gothic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540544" y="2250280"/>
            <a:ext cx="80629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36576" algn="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71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1371600" y="6012656"/>
            <a:ext cx="5791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1371600" y="5650704"/>
            <a:ext cx="5791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8392247" y="5752307"/>
            <a:ext cx="5029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⦿"/>
              <a:defRPr/>
            </a:lvl1pPr>
            <a:lvl2pPr indent="-337185" lvl="1" marL="914400" algn="l">
              <a:spcBef>
                <a:spcPts val="360"/>
              </a:spcBef>
              <a:spcAft>
                <a:spcPts val="0"/>
              </a:spcAft>
              <a:buSzPts val="1710"/>
              <a:buChar char="›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4791456" y="6480048"/>
            <a:ext cx="2133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457200" y="6480969"/>
            <a:ext cx="4260056" cy="30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n blanco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idx="10" type="dt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1" type="ftr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ncabezado de sección" showMasterSp="0" type="secHead">
  <p:cSld name="SECTION_HEADER">
    <p:bg>
      <p:bgPr>
        <a:gradFill>
          <a:gsLst>
            <a:gs pos="0">
              <a:schemeClr val="dk1"/>
            </a:gs>
            <a:gs pos="60000">
              <a:schemeClr val="dk1"/>
            </a:gs>
            <a:gs pos="100000">
              <a:srgbClr val="6C6C6C"/>
            </a:gs>
          </a:gsLst>
          <a:lin ang="5400000" scaled="0"/>
        </a:gra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/>
          <p:nvPr/>
        </p:nvSpPr>
        <p:spPr>
          <a:xfrm flipH="1" rot="10800000">
            <a:off x="7034" y="7034"/>
            <a:ext cx="9129932" cy="6836899"/>
          </a:xfrm>
          <a:prstGeom prst="rtTriangle">
            <a:avLst/>
          </a:prstGeom>
          <a:gradFill>
            <a:gsLst>
              <a:gs pos="0">
                <a:srgbClr val="D2D2D2">
                  <a:alpha val="9803"/>
                </a:srgbClr>
              </a:gs>
              <a:gs pos="70000">
                <a:srgbClr val="D2D2D2">
                  <a:alpha val="7843"/>
                </a:srgbClr>
              </a:gs>
              <a:gs pos="100000">
                <a:srgbClr val="D2D2D2">
                  <a:alpha val="784"/>
                </a:srgbClr>
              </a:gs>
            </a:gsLst>
            <a:lin ang="8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" name="Google Shape;37;p23"/>
          <p:cNvSpPr/>
          <p:nvPr/>
        </p:nvSpPr>
        <p:spPr>
          <a:xfrm flipH="1" rot="-5400000">
            <a:off x="7554353" y="309490"/>
            <a:ext cx="1892949" cy="1294228"/>
          </a:xfrm>
          <a:prstGeom prst="triangle">
            <a:avLst>
              <a:gd fmla="val 51323" name="adj"/>
            </a:avLst>
          </a:prstGeom>
          <a:gradFill>
            <a:gsLst>
              <a:gs pos="0">
                <a:srgbClr val="B2004A"/>
              </a:gs>
              <a:gs pos="60000">
                <a:srgbClr val="FF0082"/>
              </a:gs>
              <a:gs pos="100000">
                <a:srgbClr val="FF66A4"/>
              </a:gs>
            </a:gsLst>
            <a:lin ang="155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6955632" y="6477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1" type="ftr"/>
          </p:nvPr>
        </p:nvSpPr>
        <p:spPr>
          <a:xfrm>
            <a:off x="2619376" y="6480969"/>
            <a:ext cx="4260056" cy="30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451056" y="809624"/>
            <a:ext cx="502920" cy="30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41" name="Google Shape;41;p23"/>
          <p:cNvCxnSpPr/>
          <p:nvPr/>
        </p:nvCxnSpPr>
        <p:spPr>
          <a:xfrm rot="10800000">
            <a:off x="6468794" y="9381"/>
            <a:ext cx="2672861" cy="1900210"/>
          </a:xfrm>
          <a:prstGeom prst="straightConnector1">
            <a:avLst/>
          </a:prstGeom>
          <a:noFill/>
          <a:ln cap="rnd" cmpd="sng" w="9525">
            <a:solidFill>
              <a:srgbClr val="C5C5C5">
                <a:alpha val="44705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" name="Google Shape;42;p23"/>
          <p:cNvCxnSpPr/>
          <p:nvPr/>
        </p:nvCxnSpPr>
        <p:spPr>
          <a:xfrm flipH="1" rot="10800000">
            <a:off x="0" y="7034"/>
            <a:ext cx="9136966" cy="6843933"/>
          </a:xfrm>
          <a:prstGeom prst="straightConnector1">
            <a:avLst/>
          </a:prstGeom>
          <a:noFill/>
          <a:ln cap="rnd" cmpd="sng" w="9525">
            <a:solidFill>
              <a:srgbClr val="BEBEBE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23"/>
          <p:cNvSpPr txBox="1"/>
          <p:nvPr>
            <p:ph type="title"/>
          </p:nvPr>
        </p:nvSpPr>
        <p:spPr>
          <a:xfrm>
            <a:off x="381000" y="271464"/>
            <a:ext cx="72390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3600"/>
              <a:buFont typeface="Century Gothic"/>
              <a:buNone/>
              <a:defRPr b="1" sz="3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" type="body"/>
          </p:nvPr>
        </p:nvSpPr>
        <p:spPr>
          <a:xfrm>
            <a:off x="381000" y="1633536"/>
            <a:ext cx="3886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71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Dos objetos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42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" type="body"/>
          </p:nvPr>
        </p:nvSpPr>
        <p:spPr>
          <a:xfrm>
            <a:off x="457200" y="1722437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680" lvl="0" marL="457200" algn="l">
              <a:spcBef>
                <a:spcPts val="520"/>
              </a:spcBef>
              <a:spcAft>
                <a:spcPts val="0"/>
              </a:spcAft>
              <a:buSzPts val="2080"/>
              <a:buChar char="⦿"/>
              <a:defRPr sz="2600"/>
            </a:lvl1pPr>
            <a:lvl2pPr indent="-373380" lvl="1" marL="914400" algn="l">
              <a:spcBef>
                <a:spcPts val="480"/>
              </a:spcBef>
              <a:spcAft>
                <a:spcPts val="0"/>
              </a:spcAft>
              <a:buSzPts val="2280"/>
              <a:buChar char="›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2" type="body"/>
          </p:nvPr>
        </p:nvSpPr>
        <p:spPr>
          <a:xfrm>
            <a:off x="4648200" y="1722437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680" lvl="0" marL="457200" algn="l">
              <a:spcBef>
                <a:spcPts val="520"/>
              </a:spcBef>
              <a:spcAft>
                <a:spcPts val="0"/>
              </a:spcAft>
              <a:buSzPts val="2080"/>
              <a:buChar char="⦿"/>
              <a:defRPr sz="2600"/>
            </a:lvl1pPr>
            <a:lvl2pPr indent="-373380" lvl="1" marL="914400" algn="l">
              <a:spcBef>
                <a:spcPts val="480"/>
              </a:spcBef>
              <a:spcAft>
                <a:spcPts val="0"/>
              </a:spcAft>
              <a:buSzPts val="2280"/>
              <a:buChar char="›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0" type="dt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1" type="ftr"/>
          </p:nvPr>
        </p:nvSpPr>
        <p:spPr>
          <a:xfrm>
            <a:off x="457200" y="6480969"/>
            <a:ext cx="4260056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ación" showMasterSp="0" type="twoTxTwoObj">
  <p:cSld name="TWO_OBJECTS_WITH_TEXT">
    <p:bg>
      <p:bgPr>
        <a:gradFill>
          <a:gsLst>
            <a:gs pos="0">
              <a:srgbClr val="494949"/>
            </a:gs>
            <a:gs pos="60000">
              <a:srgbClr val="626262"/>
            </a:gs>
            <a:gs pos="100000">
              <a:srgbClr val="8B8B8B"/>
            </a:gs>
          </a:gsLst>
          <a:lin ang="5400000" scaled="0"/>
        </a:gra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/>
          <p:nvPr>
            <p:ph type="title"/>
          </p:nvPr>
        </p:nvSpPr>
        <p:spPr>
          <a:xfrm rot="-5400000">
            <a:off x="-2295358" y="2834288"/>
            <a:ext cx="615391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entury Gothic"/>
              <a:buNone/>
              <a:defRPr b="1"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" type="body"/>
          </p:nvPr>
        </p:nvSpPr>
        <p:spPr>
          <a:xfrm rot="-5400000">
            <a:off x="146758" y="1508980"/>
            <a:ext cx="3017520" cy="58102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280"/>
              <a:buNone/>
              <a:defRPr b="0" sz="16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9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2" type="body"/>
          </p:nvPr>
        </p:nvSpPr>
        <p:spPr>
          <a:xfrm rot="-5400000">
            <a:off x="146758" y="4645372"/>
            <a:ext cx="3017520" cy="58102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280"/>
              <a:buNone/>
              <a:defRPr b="0" sz="16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9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3" type="body"/>
          </p:nvPr>
        </p:nvSpPr>
        <p:spPr>
          <a:xfrm>
            <a:off x="2022230" y="290732"/>
            <a:ext cx="68580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spcBef>
                <a:spcPts val="480"/>
              </a:spcBef>
              <a:spcAft>
                <a:spcPts val="0"/>
              </a:spcAft>
              <a:buSzPts val="1920"/>
              <a:buChar char="⦿"/>
              <a:defRPr sz="2400"/>
            </a:lvl1pPr>
            <a:lvl2pPr indent="-349250" lvl="1" marL="914400" algn="l">
              <a:spcBef>
                <a:spcPts val="400"/>
              </a:spcBef>
              <a:spcAft>
                <a:spcPts val="0"/>
              </a:spcAft>
              <a:buSzPts val="1900"/>
              <a:buChar char="›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4" type="body"/>
          </p:nvPr>
        </p:nvSpPr>
        <p:spPr>
          <a:xfrm>
            <a:off x="2022230" y="3427124"/>
            <a:ext cx="68580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spcBef>
                <a:spcPts val="480"/>
              </a:spcBef>
              <a:spcAft>
                <a:spcPts val="0"/>
              </a:spcAft>
              <a:buSzPts val="1920"/>
              <a:buChar char="⦿"/>
              <a:defRPr sz="2400"/>
            </a:lvl1pPr>
            <a:lvl2pPr indent="-349250" lvl="1" marL="914400" algn="l">
              <a:spcBef>
                <a:spcPts val="400"/>
              </a:spcBef>
              <a:spcAft>
                <a:spcPts val="0"/>
              </a:spcAft>
              <a:buSzPts val="1900"/>
              <a:buChar char="›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791456" y="6480969"/>
            <a:ext cx="2130552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57200" y="6480969"/>
            <a:ext cx="4261104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7589520" y="6483096"/>
            <a:ext cx="502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ólo el título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4200"/>
              <a:buFont typeface="Century Gothic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0" type="dt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1" type="ftr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2" type="sldNum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ido con título" showMasterSp="0" type="objTx">
  <p:cSld name="OBJECT_WITH_CAPTION_TEXT">
    <p:bg>
      <p:bgPr>
        <a:gradFill>
          <a:gsLst>
            <a:gs pos="0">
              <a:srgbClr val="494949"/>
            </a:gs>
            <a:gs pos="60000">
              <a:srgbClr val="626262"/>
            </a:gs>
            <a:gs pos="100000">
              <a:srgbClr val="8B8B8B"/>
            </a:gs>
          </a:gsLst>
          <a:lin ang="5400000" scaled="0"/>
        </a:gra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7"/>
          <p:cNvSpPr txBox="1"/>
          <p:nvPr>
            <p:ph type="title"/>
          </p:nvPr>
        </p:nvSpPr>
        <p:spPr>
          <a:xfrm rot="-5400000">
            <a:off x="-2295144" y="2882264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18288" algn="r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900"/>
              <a:buFont typeface="Century Gothic"/>
              <a:buNone/>
              <a:defRPr b="0" sz="29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135856" y="367664"/>
            <a:ext cx="24384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14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2" type="body"/>
          </p:nvPr>
        </p:nvSpPr>
        <p:spPr>
          <a:xfrm>
            <a:off x="3651250" y="320040"/>
            <a:ext cx="5276088" cy="598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0"/>
              </a:spcBef>
              <a:spcAft>
                <a:spcPts val="0"/>
              </a:spcAft>
              <a:buSzPts val="2400"/>
              <a:buChar char="⦿"/>
              <a:defRPr sz="3000"/>
            </a:lvl1pPr>
            <a:lvl2pPr indent="-385444" lvl="1" marL="914400" algn="l">
              <a:spcBef>
                <a:spcPts val="520"/>
              </a:spcBef>
              <a:spcAft>
                <a:spcPts val="0"/>
              </a:spcAft>
              <a:buSzPts val="2470"/>
              <a:buChar char="›"/>
              <a:defRPr sz="26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0" type="dt"/>
          </p:nvPr>
        </p:nvSpPr>
        <p:spPr>
          <a:xfrm>
            <a:off x="6278976" y="6556248"/>
            <a:ext cx="2133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1" type="ftr"/>
          </p:nvPr>
        </p:nvSpPr>
        <p:spPr>
          <a:xfrm>
            <a:off x="1135856" y="6556248"/>
            <a:ext cx="51431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2" type="sldNum"/>
          </p:nvPr>
        </p:nvSpPr>
        <p:spPr>
          <a:xfrm>
            <a:off x="8410576" y="6556248"/>
            <a:ext cx="502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magen con título" showMasterSp="0" type="picTx">
  <p:cSld name="PICTURE_WITH_CAPTION_TEXT">
    <p:bg>
      <p:bgPr>
        <a:gradFill>
          <a:gsLst>
            <a:gs pos="0">
              <a:schemeClr val="dk1"/>
            </a:gs>
            <a:gs pos="60000">
              <a:schemeClr val="dk1"/>
            </a:gs>
            <a:gs pos="100000">
              <a:srgbClr val="6C6C6C"/>
            </a:gs>
          </a:gsLst>
          <a:lin ang="5400000" scaled="0"/>
        </a:gra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8"/>
          <p:cNvSpPr txBox="1"/>
          <p:nvPr>
            <p:ph type="title"/>
          </p:nvPr>
        </p:nvSpPr>
        <p:spPr>
          <a:xfrm rot="-5400000">
            <a:off x="-2523744" y="2894096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3000"/>
              <a:buFont typeface="Century Gothic"/>
              <a:buNone/>
              <a:defRPr b="0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/>
          <p:nvPr>
            <p:ph idx="2" type="pic"/>
          </p:nvPr>
        </p:nvSpPr>
        <p:spPr>
          <a:xfrm>
            <a:off x="1138237" y="373966"/>
            <a:ext cx="7333488" cy="54864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  <a:defRPr b="0" i="0" sz="3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470"/>
              <a:buFont typeface="Verdana"/>
              <a:buChar char="›"/>
              <a:defRPr b="0" i="0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380"/>
              </a:spcBef>
              <a:spcAft>
                <a:spcPts val="0"/>
              </a:spcAft>
              <a:buClr>
                <a:srgbClr val="FF8EB1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360"/>
              </a:spcBef>
              <a:spcAft>
                <a:spcPts val="0"/>
              </a:spcAft>
              <a:buClr>
                <a:srgbClr val="FF8EB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320"/>
              </a:spcBef>
              <a:spcAft>
                <a:spcPts val="0"/>
              </a:spcAft>
              <a:buClr>
                <a:srgbClr val="FF8EB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320"/>
              </a:spcBef>
              <a:spcAft>
                <a:spcPts val="0"/>
              </a:spcAft>
              <a:buClr>
                <a:srgbClr val="FF8EB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320"/>
              </a:spcBef>
              <a:spcAft>
                <a:spcPts val="0"/>
              </a:spcAft>
              <a:buClr>
                <a:srgbClr val="FF8EB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>
            <a:off x="1143000" y="5867400"/>
            <a:ext cx="7333488" cy="685800"/>
          </a:xfrm>
          <a:prstGeom prst="rect">
            <a:avLst/>
          </a:prstGeom>
          <a:solidFill>
            <a:schemeClr val="accent1">
              <a:alpha val="14901"/>
            </a:schemeClr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300990" lvl="1" marL="914400" algn="l">
              <a:spcBef>
                <a:spcPts val="240"/>
              </a:spcBef>
              <a:spcAft>
                <a:spcPts val="0"/>
              </a:spcAft>
              <a:buSzPts val="1140"/>
              <a:buChar char="›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6108192" y="6556248"/>
            <a:ext cx="21031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1170432" y="6557169"/>
            <a:ext cx="49480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217192" y="6556248"/>
            <a:ext cx="365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y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 txBox="1"/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" type="body"/>
          </p:nvPr>
        </p:nvSpPr>
        <p:spPr>
          <a:xfrm rot="5400000">
            <a:off x="2286000" y="54008"/>
            <a:ext cx="4572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⦿"/>
              <a:defRPr/>
            </a:lvl1pPr>
            <a:lvl2pPr indent="-337185" lvl="1" marL="914400" algn="l">
              <a:spcBef>
                <a:spcPts val="360"/>
              </a:spcBef>
              <a:spcAft>
                <a:spcPts val="0"/>
              </a:spcAft>
              <a:buSzPts val="1710"/>
              <a:buChar char="›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0" type="dt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9"/>
          <p:cNvSpPr txBox="1"/>
          <p:nvPr>
            <p:ph idx="11" type="ftr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9"/>
          <p:cNvSpPr txBox="1"/>
          <p:nvPr>
            <p:ph idx="12" type="sldNum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vertical y texto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0"/>
          <p:cNvSpPr txBox="1"/>
          <p:nvPr>
            <p:ph type="title"/>
          </p:nvPr>
        </p:nvSpPr>
        <p:spPr>
          <a:xfrm rot="5400000">
            <a:off x="4991100" y="2171700"/>
            <a:ext cx="5486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" type="body"/>
          </p:nvPr>
        </p:nvSpPr>
        <p:spPr>
          <a:xfrm rot="5400000">
            <a:off x="838200" y="0"/>
            <a:ext cx="54864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⦿"/>
              <a:defRPr/>
            </a:lvl1pPr>
            <a:lvl2pPr indent="-337185" lvl="1" marL="914400" algn="l">
              <a:spcBef>
                <a:spcPts val="360"/>
              </a:spcBef>
              <a:spcAft>
                <a:spcPts val="0"/>
              </a:spcAft>
              <a:buSzPts val="1710"/>
              <a:buChar char="›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0" type="dt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0"/>
          <p:cNvSpPr txBox="1"/>
          <p:nvPr>
            <p:ph idx="11" type="ftr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0"/>
          <p:cNvSpPr txBox="1"/>
          <p:nvPr>
            <p:ph idx="12" type="sldNum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494949"/>
            </a:gs>
            <a:gs pos="60000">
              <a:srgbClr val="626262"/>
            </a:gs>
            <a:gs pos="100000">
              <a:srgbClr val="8B8B8B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>
            <a:gsLst>
              <a:gs pos="0">
                <a:srgbClr val="D2D2D2">
                  <a:alpha val="9803"/>
                </a:srgbClr>
              </a:gs>
              <a:gs pos="70000">
                <a:srgbClr val="D2D2D2">
                  <a:alpha val="7843"/>
                </a:srgbClr>
              </a:gs>
              <a:gs pos="100000">
                <a:srgbClr val="D2D2D2">
                  <a:alpha val="784"/>
                </a:srgbClr>
              </a:gs>
            </a:gsLst>
            <a:lin ang="8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1" name="Google Shape;11;p19"/>
          <p:cNvCxnSpPr/>
          <p:nvPr/>
        </p:nvCxnSpPr>
        <p:spPr>
          <a:xfrm>
            <a:off x="0" y="7034"/>
            <a:ext cx="9136966" cy="6843933"/>
          </a:xfrm>
          <a:prstGeom prst="straightConnector1">
            <a:avLst/>
          </a:prstGeom>
          <a:noFill/>
          <a:ln cap="rnd" cmpd="sng" w="9525">
            <a:solidFill>
              <a:srgbClr val="BEBEBE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19"/>
          <p:cNvCxnSpPr/>
          <p:nvPr/>
        </p:nvCxnSpPr>
        <p:spPr>
          <a:xfrm flipH="1">
            <a:off x="6468794" y="4948410"/>
            <a:ext cx="2672861" cy="1900210"/>
          </a:xfrm>
          <a:prstGeom prst="straightConnector1">
            <a:avLst/>
          </a:prstGeom>
          <a:noFill/>
          <a:ln cap="rnd" cmpd="sng" w="9525">
            <a:solidFill>
              <a:srgbClr val="C5C5C5">
                <a:alpha val="44705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19"/>
          <p:cNvSpPr txBox="1"/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rgbClr val="FF599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9"/>
          <p:cNvSpPr txBox="1"/>
          <p:nvPr>
            <p:ph idx="1" type="body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  <a:defRPr b="0" i="0" sz="3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5444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470"/>
              <a:buFont typeface="Verdana"/>
              <a:buChar char="›"/>
              <a:defRPr b="0" i="0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9250" lvl="4" marL="2286000" marR="0" rtl="0" algn="l">
              <a:spcBef>
                <a:spcPts val="380"/>
              </a:spcBef>
              <a:spcAft>
                <a:spcPts val="0"/>
              </a:spcAft>
              <a:buClr>
                <a:srgbClr val="FF8EB1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rgbClr val="FF8EB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rgbClr val="FF8EB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rgbClr val="FF8EB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rgbClr val="FF8EB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19"/>
          <p:cNvSpPr txBox="1"/>
          <p:nvPr>
            <p:ph idx="10" type="dt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19"/>
          <p:cNvSpPr txBox="1"/>
          <p:nvPr>
            <p:ph idx="11" type="ftr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7" name="Google Shape;17;p19"/>
          <p:cNvSpPr txBox="1"/>
          <p:nvPr>
            <p:ph idx="12" type="sldNum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ctrTitle"/>
          </p:nvPr>
        </p:nvSpPr>
        <p:spPr>
          <a:xfrm>
            <a:off x="540544" y="776288"/>
            <a:ext cx="8062912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484632" rtl="0" algn="r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8000"/>
              <a:buFont typeface="Century Gothic"/>
              <a:buNone/>
            </a:pPr>
            <a:r>
              <a:rPr lang="es-ES" sz="8000"/>
              <a:t>COSTOS</a:t>
            </a:r>
            <a:endParaRPr sz="8000"/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540544" y="2250280"/>
            <a:ext cx="80629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36576" rtl="0" algn="r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rtl="0" algn="l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4200"/>
              <a:buFont typeface="Century Gothic"/>
              <a:buNone/>
            </a:pPr>
            <a:r>
              <a:rPr lang="es-ES"/>
              <a:t>Definición</a:t>
            </a:r>
            <a:endParaRPr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7" lvl="0" marL="448056" rtl="0" algn="just">
              <a:spcBef>
                <a:spcPts val="0"/>
              </a:spcBef>
              <a:spcAft>
                <a:spcPts val="0"/>
              </a:spcAft>
              <a:buSzPts val="2400"/>
              <a:buChar char="⦿"/>
            </a:pPr>
            <a:r>
              <a:rPr lang="es-ES"/>
              <a:t>Costo, en general, es un sacrificio que se realiza tratando de obtener algo con mayor valor</a:t>
            </a:r>
            <a:endParaRPr/>
          </a:p>
          <a:p>
            <a:pPr indent="-384047" lvl="0" marL="448056" rtl="0" algn="just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4047" lvl="0" marL="448056" rtl="0" algn="just">
              <a:spcBef>
                <a:spcPts val="600"/>
              </a:spcBef>
              <a:spcAft>
                <a:spcPts val="0"/>
              </a:spcAft>
              <a:buSzPts val="2400"/>
              <a:buChar char="⦿"/>
            </a:pPr>
            <a:r>
              <a:rPr lang="es-ES"/>
              <a:t>Costo, económicamente, es el gasto efectuado con la intención de lograr un rédito monetario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rtl="0" algn="l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4200"/>
              <a:buFont typeface="Century Gothic"/>
              <a:buNone/>
            </a:pPr>
            <a:r>
              <a:rPr lang="es-ES"/>
              <a:t>Clasificación</a:t>
            </a:r>
            <a:endParaRPr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647" lvl="0" marL="448056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316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ES"/>
              <a:t>                                                Materiales</a:t>
            </a:r>
            <a:endParaRPr/>
          </a:p>
          <a:p>
            <a:pPr indent="-2316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Char char="⦿"/>
            </a:pPr>
            <a:r>
              <a:rPr lang="es-ES"/>
              <a:t>Por su naturaleza              Mano de obra  </a:t>
            </a:r>
            <a:endParaRPr/>
          </a:p>
          <a:p>
            <a:pPr indent="-2316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ES"/>
              <a:t>                                               Gs, generales</a:t>
            </a:r>
            <a:endParaRPr/>
          </a:p>
        </p:txBody>
      </p:sp>
      <p:cxnSp>
        <p:nvCxnSpPr>
          <p:cNvPr id="110" name="Google Shape;110;p3"/>
          <p:cNvCxnSpPr/>
          <p:nvPr/>
        </p:nvCxnSpPr>
        <p:spPr>
          <a:xfrm rot="-5400000">
            <a:off x="4286248" y="3214686"/>
            <a:ext cx="1214446" cy="1071570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1" name="Google Shape;111;p3"/>
          <p:cNvCxnSpPr/>
          <p:nvPr/>
        </p:nvCxnSpPr>
        <p:spPr>
          <a:xfrm>
            <a:off x="4429124" y="4357694"/>
            <a:ext cx="928694" cy="1588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2" name="Google Shape;112;p3"/>
          <p:cNvCxnSpPr/>
          <p:nvPr/>
        </p:nvCxnSpPr>
        <p:spPr>
          <a:xfrm flipH="1" rot="-5400000">
            <a:off x="4286248" y="4500570"/>
            <a:ext cx="1214446" cy="928694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rtl="0" algn="l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4200"/>
              <a:buFont typeface="Century Gothic"/>
              <a:buNone/>
            </a:pPr>
            <a:r>
              <a:rPr lang="es-ES"/>
              <a:t>Clasificación</a:t>
            </a:r>
            <a:endParaRPr/>
          </a:p>
        </p:txBody>
      </p:sp>
      <p:sp>
        <p:nvSpPr>
          <p:cNvPr id="118" name="Google Shape;118;p4"/>
          <p:cNvSpPr txBox="1"/>
          <p:nvPr>
            <p:ph idx="1" type="body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647" lvl="0" marL="448056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316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316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ES"/>
              <a:t>                                                   Directos</a:t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Char char="⦿"/>
            </a:pPr>
            <a:r>
              <a:rPr lang="es-ES"/>
              <a:t>Por su relación con</a:t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ES"/>
              <a:t>   la unidad de costo </a:t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ES"/>
              <a:t>                                                   Indirectos</a:t>
            </a:r>
            <a:endParaRPr/>
          </a:p>
        </p:txBody>
      </p:sp>
      <p:cxnSp>
        <p:nvCxnSpPr>
          <p:cNvPr id="119" name="Google Shape;119;p4"/>
          <p:cNvCxnSpPr/>
          <p:nvPr/>
        </p:nvCxnSpPr>
        <p:spPr>
          <a:xfrm rot="-5400000">
            <a:off x="4893471" y="3893347"/>
            <a:ext cx="785818" cy="714380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0" name="Google Shape;120;p4"/>
          <p:cNvCxnSpPr/>
          <p:nvPr/>
        </p:nvCxnSpPr>
        <p:spPr>
          <a:xfrm flipH="1" rot="-5400000">
            <a:off x="5000628" y="4643446"/>
            <a:ext cx="714380" cy="714380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rtl="0" algn="l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4200"/>
              <a:buFont typeface="Century Gothic"/>
              <a:buNone/>
            </a:pPr>
            <a:r>
              <a:rPr lang="es-ES"/>
              <a:t>Clasificación</a:t>
            </a:r>
            <a:endParaRPr/>
          </a:p>
        </p:txBody>
      </p:sp>
      <p:sp>
        <p:nvSpPr>
          <p:cNvPr id="126" name="Google Shape;126;p5"/>
          <p:cNvSpPr txBox="1"/>
          <p:nvPr>
            <p:ph idx="1" type="body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7" lvl="0" marL="44805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20"/>
              <a:buNone/>
            </a:pPr>
            <a:r>
              <a:t/>
            </a:r>
            <a:endParaRPr sz="2775"/>
          </a:p>
          <a:p>
            <a:pPr indent="-384047" lvl="0" marL="44805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2220"/>
              <a:buNone/>
            </a:pPr>
            <a:r>
              <a:rPr lang="es-ES" sz="2775"/>
              <a:t>  </a:t>
            </a:r>
            <a:endParaRPr/>
          </a:p>
          <a:p>
            <a:pPr indent="-384047" lvl="0" marL="44805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2220"/>
              <a:buNone/>
            </a:pPr>
            <a:r>
              <a:rPr lang="es-ES" sz="2775"/>
              <a:t>                                                      Fijos</a:t>
            </a:r>
            <a:endParaRPr/>
          </a:p>
          <a:p>
            <a:pPr indent="-384047" lvl="0" marL="44805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2220"/>
              <a:buNone/>
            </a:pPr>
            <a:r>
              <a:rPr lang="es-ES" sz="2775"/>
              <a:t>    Por su comportamiento</a:t>
            </a:r>
            <a:endParaRPr/>
          </a:p>
          <a:p>
            <a:pPr indent="-384048" lvl="0" marL="44805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2220"/>
              <a:buChar char="⦿"/>
            </a:pPr>
            <a:r>
              <a:rPr lang="es-ES" sz="2775"/>
              <a:t>frente al volumen </a:t>
            </a:r>
            <a:endParaRPr/>
          </a:p>
          <a:p>
            <a:pPr indent="-384047" lvl="0" marL="44805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2220"/>
              <a:buNone/>
            </a:pPr>
            <a:r>
              <a:rPr lang="es-ES" sz="2775"/>
              <a:t>    de producción                       </a:t>
            </a:r>
            <a:endParaRPr/>
          </a:p>
          <a:p>
            <a:pPr indent="-384047" lvl="0" marL="44805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2220"/>
              <a:buNone/>
            </a:pPr>
            <a:r>
              <a:rPr lang="es-ES" sz="2775"/>
              <a:t>                                                      Variables</a:t>
            </a:r>
            <a:endParaRPr/>
          </a:p>
          <a:p>
            <a:pPr indent="-384047" lvl="0" marL="44805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2220"/>
              <a:buNone/>
            </a:pPr>
            <a:r>
              <a:rPr lang="es-ES" sz="2775"/>
              <a:t>                                                       </a:t>
            </a:r>
            <a:endParaRPr/>
          </a:p>
          <a:p>
            <a:pPr indent="-384047" lvl="0" marL="44805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2220"/>
              <a:buNone/>
            </a:pPr>
            <a:r>
              <a:t/>
            </a:r>
            <a:endParaRPr sz="2775"/>
          </a:p>
          <a:p>
            <a:pPr indent="-384047" lvl="0" marL="44805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2220"/>
              <a:buNone/>
            </a:pPr>
            <a:r>
              <a:rPr lang="es-ES" sz="2775"/>
              <a:t> </a:t>
            </a:r>
            <a:endParaRPr/>
          </a:p>
          <a:p>
            <a:pPr indent="-384047" lvl="0" marL="44805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2220"/>
              <a:buNone/>
            </a:pPr>
            <a:r>
              <a:t/>
            </a:r>
            <a:endParaRPr sz="2775"/>
          </a:p>
        </p:txBody>
      </p:sp>
      <p:cxnSp>
        <p:nvCxnSpPr>
          <p:cNvPr id="127" name="Google Shape;127;p5"/>
          <p:cNvCxnSpPr/>
          <p:nvPr/>
        </p:nvCxnSpPr>
        <p:spPr>
          <a:xfrm rot="-5400000">
            <a:off x="4929190" y="3143248"/>
            <a:ext cx="857256" cy="428628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8" name="Google Shape;128;p5"/>
          <p:cNvCxnSpPr/>
          <p:nvPr/>
        </p:nvCxnSpPr>
        <p:spPr>
          <a:xfrm flipH="1" rot="-5400000">
            <a:off x="5072066" y="3929066"/>
            <a:ext cx="714380" cy="571504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type="title"/>
          </p:nvPr>
        </p:nvSpPr>
        <p:spPr>
          <a:xfrm>
            <a:off x="457200" y="267494"/>
            <a:ext cx="8229600" cy="1161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rtl="0" algn="l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4200"/>
              <a:buFont typeface="Century Gothic"/>
              <a:buNone/>
            </a:pPr>
            <a:r>
              <a:rPr lang="es-ES"/>
              <a:t>Clasificación</a:t>
            </a:r>
            <a:endParaRPr/>
          </a:p>
        </p:txBody>
      </p:sp>
      <p:sp>
        <p:nvSpPr>
          <p:cNvPr id="134" name="Google Shape;134;p6"/>
          <p:cNvSpPr txBox="1"/>
          <p:nvPr>
            <p:ph idx="1" type="body"/>
          </p:nvPr>
        </p:nvSpPr>
        <p:spPr>
          <a:xfrm>
            <a:off x="0" y="2357430"/>
            <a:ext cx="9144000" cy="40973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7" lvl="0" marL="448056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s-ES" sz="2800"/>
              <a:t>                              Materiales directos</a:t>
            </a:r>
            <a:endParaRPr/>
          </a:p>
          <a:p>
            <a:pPr indent="-384047" lvl="0" marL="448056" rtl="0" algn="l">
              <a:spcBef>
                <a:spcPts val="560"/>
              </a:spcBef>
              <a:spcAft>
                <a:spcPts val="0"/>
              </a:spcAft>
              <a:buSzPts val="2240"/>
              <a:buChar char="⦿"/>
            </a:pPr>
            <a:r>
              <a:rPr lang="es-ES" sz="2800"/>
              <a:t>Tradicional       Mano de obra directa</a:t>
            </a:r>
            <a:endParaRPr/>
          </a:p>
          <a:p>
            <a:pPr indent="-384047" lvl="0" marL="448056" rtl="0" algn="l">
              <a:spcBef>
                <a:spcPts val="560"/>
              </a:spcBef>
              <a:spcAft>
                <a:spcPts val="0"/>
              </a:spcAft>
              <a:buSzPts val="2240"/>
              <a:buNone/>
            </a:pPr>
            <a:r>
              <a:rPr lang="es-ES" sz="2800"/>
              <a:t>                              Gs. Indirectos fijos y variables</a:t>
            </a:r>
            <a:endParaRPr/>
          </a:p>
          <a:p>
            <a:pPr indent="-384047" lvl="0" marL="448056" rtl="0" algn="l">
              <a:spcBef>
                <a:spcPts val="72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 sz="3600"/>
          </a:p>
          <a:p>
            <a:pPr indent="-384047" lvl="0" marL="448056" rtl="0" algn="l">
              <a:spcBef>
                <a:spcPts val="640"/>
              </a:spcBef>
              <a:spcAft>
                <a:spcPts val="0"/>
              </a:spcAft>
              <a:buSzPts val="2560"/>
              <a:buNone/>
            </a:pPr>
            <a:r>
              <a:rPr lang="es-ES" sz="3200"/>
              <a:t>    </a:t>
            </a:r>
            <a:endParaRPr/>
          </a:p>
          <a:p>
            <a:pPr indent="-384047" lvl="0" marL="448056" rtl="0" algn="l">
              <a:spcBef>
                <a:spcPts val="800"/>
              </a:spcBef>
              <a:spcAft>
                <a:spcPts val="0"/>
              </a:spcAft>
              <a:buSzPts val="3200"/>
              <a:buNone/>
            </a:pPr>
            <a:r>
              <a:rPr lang="es-ES" sz="4000"/>
              <a:t> </a:t>
            </a:r>
            <a:endParaRPr/>
          </a:p>
          <a:p>
            <a:pPr indent="-2316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316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135" name="Google Shape;135;p6"/>
          <p:cNvCxnSpPr/>
          <p:nvPr/>
        </p:nvCxnSpPr>
        <p:spPr>
          <a:xfrm rot="-5400000">
            <a:off x="2464579" y="2821777"/>
            <a:ext cx="500066" cy="285752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6" name="Google Shape;136;p6"/>
          <p:cNvCxnSpPr/>
          <p:nvPr/>
        </p:nvCxnSpPr>
        <p:spPr>
          <a:xfrm>
            <a:off x="2571736" y="3214686"/>
            <a:ext cx="285752" cy="1588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7" name="Google Shape;137;p6"/>
          <p:cNvCxnSpPr/>
          <p:nvPr/>
        </p:nvCxnSpPr>
        <p:spPr>
          <a:xfrm flipH="1" rot="-5400000">
            <a:off x="2500298" y="3286124"/>
            <a:ext cx="428628" cy="285752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rtl="0" algn="l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4200"/>
              <a:buFont typeface="Century Gothic"/>
              <a:buNone/>
            </a:pPr>
            <a:r>
              <a:rPr lang="es-ES"/>
              <a:t>Clasificación</a:t>
            </a:r>
            <a:endParaRPr/>
          </a:p>
        </p:txBody>
      </p:sp>
      <p:sp>
        <p:nvSpPr>
          <p:cNvPr id="143" name="Google Shape;143;p7"/>
          <p:cNvSpPr txBox="1"/>
          <p:nvPr>
            <p:ph idx="1" type="body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647" lvl="0" marL="448056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ES"/>
              <a:t>                            Producción</a:t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ES"/>
              <a:t>                            Comercialización</a:t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Char char="⦿"/>
            </a:pPr>
            <a:r>
              <a:rPr lang="es-ES"/>
              <a:t>  Por área       Administración</a:t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ES"/>
              <a:t>                            Financiación</a:t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ES"/>
              <a:t>                            Etc. </a:t>
            </a:r>
            <a:endParaRPr/>
          </a:p>
        </p:txBody>
      </p:sp>
      <p:cxnSp>
        <p:nvCxnSpPr>
          <p:cNvPr id="144" name="Google Shape;144;p7"/>
          <p:cNvCxnSpPr/>
          <p:nvPr/>
        </p:nvCxnSpPr>
        <p:spPr>
          <a:xfrm rot="-5400000">
            <a:off x="2571736" y="3214686"/>
            <a:ext cx="1000132" cy="285752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5" name="Google Shape;145;p7"/>
          <p:cNvCxnSpPr/>
          <p:nvPr/>
        </p:nvCxnSpPr>
        <p:spPr>
          <a:xfrm rot="-5400000">
            <a:off x="2857488" y="3429000"/>
            <a:ext cx="500066" cy="357190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6" name="Google Shape;146;p7"/>
          <p:cNvCxnSpPr/>
          <p:nvPr/>
        </p:nvCxnSpPr>
        <p:spPr>
          <a:xfrm>
            <a:off x="2928926" y="3857628"/>
            <a:ext cx="357190" cy="1588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7" name="Google Shape;147;p7"/>
          <p:cNvCxnSpPr/>
          <p:nvPr/>
        </p:nvCxnSpPr>
        <p:spPr>
          <a:xfrm flipH="1" rot="-5400000">
            <a:off x="2857488" y="3929066"/>
            <a:ext cx="500066" cy="357190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8" name="Google Shape;148;p7"/>
          <p:cNvCxnSpPr/>
          <p:nvPr/>
        </p:nvCxnSpPr>
        <p:spPr>
          <a:xfrm flipH="1" rot="-5400000">
            <a:off x="2571736" y="4214818"/>
            <a:ext cx="1071570" cy="357190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/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rtl="0" algn="l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4200"/>
              <a:buFont typeface="Century Gothic"/>
              <a:buNone/>
            </a:pPr>
            <a:r>
              <a:rPr lang="es-ES"/>
              <a:t>Clasificación</a:t>
            </a:r>
            <a:endParaRPr/>
          </a:p>
        </p:txBody>
      </p:sp>
      <p:sp>
        <p:nvSpPr>
          <p:cNvPr id="154" name="Google Shape;154;p8"/>
          <p:cNvSpPr txBox="1"/>
          <p:nvPr>
            <p:ph idx="1" type="body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647" lvl="0" marL="448056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316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ES"/>
              <a:t>                                       Históricos</a:t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Char char="⦿"/>
            </a:pPr>
            <a:r>
              <a:rPr lang="es-ES"/>
              <a:t>Por el momento</a:t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ES"/>
              <a:t>    de cálculo</a:t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ES"/>
              <a:t>                                       Pre-determinados</a:t>
            </a:r>
            <a:endParaRPr/>
          </a:p>
        </p:txBody>
      </p:sp>
      <p:cxnSp>
        <p:nvCxnSpPr>
          <p:cNvPr id="155" name="Google Shape;155;p8"/>
          <p:cNvCxnSpPr/>
          <p:nvPr/>
        </p:nvCxnSpPr>
        <p:spPr>
          <a:xfrm rot="-5400000">
            <a:off x="3964777" y="3679033"/>
            <a:ext cx="571504" cy="357190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6" name="Google Shape;156;p8"/>
          <p:cNvCxnSpPr/>
          <p:nvPr/>
        </p:nvCxnSpPr>
        <p:spPr>
          <a:xfrm flipH="1" rot="-5400000">
            <a:off x="4000496" y="4214818"/>
            <a:ext cx="571504" cy="428628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/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rtl="0" algn="l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4200"/>
              <a:buFont typeface="Century Gothic"/>
              <a:buNone/>
            </a:pPr>
            <a:r>
              <a:rPr lang="es-ES"/>
              <a:t>Costos totales</a:t>
            </a:r>
            <a:endParaRPr/>
          </a:p>
        </p:txBody>
      </p:sp>
      <p:sp>
        <p:nvSpPr>
          <p:cNvPr id="162" name="Google Shape;162;p9"/>
          <p:cNvSpPr txBox="1"/>
          <p:nvPr>
            <p:ph idx="1" type="body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7" lvl="0" marL="448056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/>
              <a:t> C</a:t>
            </a:r>
            <a:r>
              <a:rPr baseline="-25000" lang="es-ES"/>
              <a:t>T</a:t>
            </a:r>
            <a:r>
              <a:rPr lang="es-ES"/>
              <a:t> = C</a:t>
            </a:r>
            <a:r>
              <a:rPr baseline="-25000" lang="es-ES"/>
              <a:t>F</a:t>
            </a:r>
            <a:r>
              <a:rPr lang="es-ES"/>
              <a:t> + C</a:t>
            </a:r>
            <a:r>
              <a:rPr baseline="-25000" lang="es-ES"/>
              <a:t>V</a:t>
            </a:r>
            <a:r>
              <a:rPr lang="es-ES"/>
              <a:t>    </a:t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ES"/>
              <a:t> C</a:t>
            </a:r>
            <a:r>
              <a:rPr baseline="-25000" lang="es-ES"/>
              <a:t>V</a:t>
            </a:r>
            <a:r>
              <a:rPr lang="es-ES"/>
              <a:t> =  m . C</a:t>
            </a:r>
            <a:r>
              <a:rPr baseline="-25000" lang="es-ES"/>
              <a:t>vu</a:t>
            </a:r>
            <a:r>
              <a:rPr lang="es-ES"/>
              <a:t> </a:t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ES"/>
              <a:t> C</a:t>
            </a:r>
            <a:r>
              <a:rPr baseline="-25000" lang="es-ES"/>
              <a:t>T</a:t>
            </a:r>
            <a:r>
              <a:rPr lang="es-ES"/>
              <a:t> =  C</a:t>
            </a:r>
            <a:r>
              <a:rPr baseline="-25000" lang="es-ES"/>
              <a:t>F  </a:t>
            </a:r>
            <a:r>
              <a:rPr lang="es-ES"/>
              <a:t>+ m . C</a:t>
            </a:r>
            <a:r>
              <a:rPr baseline="-25000" lang="es-ES"/>
              <a:t>vu</a:t>
            </a:r>
            <a:r>
              <a:rPr lang="es-ES"/>
              <a:t>                                    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Google Shape;167;p10"/>
          <p:cNvCxnSpPr/>
          <p:nvPr/>
        </p:nvCxnSpPr>
        <p:spPr>
          <a:xfrm rot="-5400000">
            <a:off x="-1643106" y="3500438"/>
            <a:ext cx="5143536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8" name="Google Shape;168;p10"/>
          <p:cNvCxnSpPr/>
          <p:nvPr/>
        </p:nvCxnSpPr>
        <p:spPr>
          <a:xfrm>
            <a:off x="642910" y="5786454"/>
            <a:ext cx="6929486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9" name="Google Shape;169;p10"/>
          <p:cNvCxnSpPr/>
          <p:nvPr/>
        </p:nvCxnSpPr>
        <p:spPr>
          <a:xfrm>
            <a:off x="928662" y="4429132"/>
            <a:ext cx="6000792" cy="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10"/>
          <p:cNvCxnSpPr/>
          <p:nvPr/>
        </p:nvCxnSpPr>
        <p:spPr>
          <a:xfrm flipH="1" rot="10800000">
            <a:off x="928662" y="2071678"/>
            <a:ext cx="6072230" cy="3714776"/>
          </a:xfrm>
          <a:prstGeom prst="straightConnector1">
            <a:avLst/>
          </a:prstGeom>
          <a:noFill/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10"/>
          <p:cNvCxnSpPr/>
          <p:nvPr/>
        </p:nvCxnSpPr>
        <p:spPr>
          <a:xfrm flipH="1" rot="10800000">
            <a:off x="928662" y="928670"/>
            <a:ext cx="5572164" cy="3500462"/>
          </a:xfrm>
          <a:prstGeom prst="straightConnector1">
            <a:avLst/>
          </a:prstGeom>
          <a:noFill/>
          <a:ln cap="flat" cmpd="sng" w="952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10"/>
          <p:cNvSpPr txBox="1"/>
          <p:nvPr/>
        </p:nvSpPr>
        <p:spPr>
          <a:xfrm flipH="1">
            <a:off x="1142976" y="572830"/>
            <a:ext cx="25003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rgbClr val="00B0F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r>
              <a:rPr b="0" baseline="-25000" i="0" lang="es-ES" sz="1800" u="none" cap="none" strike="noStrike">
                <a:solidFill>
                  <a:srgbClr val="00B0F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 </a:t>
            </a:r>
            <a:r>
              <a:rPr b="0" i="0" lang="es-ES" sz="1800" u="none" cap="none" strike="noStrike">
                <a:solidFill>
                  <a:srgbClr val="00B0F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es-E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 </a:t>
            </a:r>
            <a:r>
              <a:rPr b="0" i="0" lang="es-ES" sz="1800" u="none" cap="none" strike="noStrike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r>
              <a:rPr b="0" baseline="-25000" i="0" lang="es-ES" sz="1800" u="none" cap="none" strike="noStrike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</a:t>
            </a:r>
            <a:r>
              <a:rPr b="0" i="0" lang="es-ES" sz="1800" u="none" cap="none" strike="noStrike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es-E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</a:t>
            </a:r>
            <a:r>
              <a:rPr b="0" i="0" lang="es-ES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r>
              <a:rPr b="0" baseline="-25000" i="0" lang="es-ES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</a:t>
            </a:r>
            <a:r>
              <a:rPr b="0" i="0" lang="es-ES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r>
              <a:rPr b="0" i="0" lang="es-E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[$]</a:t>
            </a:r>
            <a:endParaRPr sz="1800">
              <a:solidFill>
                <a:srgbClr val="00B0F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7000892" y="5857892"/>
            <a:ext cx="21431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 [unidades]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rtl="0" algn="l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4200"/>
              <a:buFont typeface="Century Gothic"/>
              <a:buNone/>
            </a:pPr>
            <a:r>
              <a:rPr lang="es-ES"/>
              <a:t>Costos unitarios</a:t>
            </a:r>
            <a:endParaRPr/>
          </a:p>
        </p:txBody>
      </p:sp>
      <p:sp>
        <p:nvSpPr>
          <p:cNvPr id="179" name="Google Shape;179;p11"/>
          <p:cNvSpPr txBox="1"/>
          <p:nvPr>
            <p:ph idx="1" type="body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7" lvl="0" marL="448056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ES"/>
              <a:t>C</a:t>
            </a:r>
            <a:r>
              <a:rPr baseline="-25000" lang="es-ES"/>
              <a:t>Tu  </a:t>
            </a:r>
            <a:r>
              <a:rPr lang="es-ES"/>
              <a:t>=  C</a:t>
            </a:r>
            <a:r>
              <a:rPr baseline="-25000" lang="es-ES"/>
              <a:t>Fu  </a:t>
            </a:r>
            <a:r>
              <a:rPr lang="es-ES"/>
              <a:t>+  C</a:t>
            </a:r>
            <a:r>
              <a:rPr baseline="-25000" lang="es-ES"/>
              <a:t>vu</a:t>
            </a:r>
            <a:endParaRPr baseline="-25000"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aseline="-25000"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aseline="-25000"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ES"/>
              <a:t>C</a:t>
            </a:r>
            <a:r>
              <a:rPr baseline="-25000" lang="es-ES"/>
              <a:t>Tu  = </a:t>
            </a:r>
            <a:r>
              <a:rPr lang="es-ES"/>
              <a:t> C</a:t>
            </a:r>
            <a:r>
              <a:rPr baseline="-25000" lang="es-ES"/>
              <a:t>F  + </a:t>
            </a:r>
            <a:r>
              <a:rPr lang="es-ES"/>
              <a:t> C</a:t>
            </a:r>
            <a:r>
              <a:rPr baseline="-25000" lang="es-ES"/>
              <a:t>vu</a:t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ES"/>
              <a:t>          m        </a:t>
            </a:r>
            <a:endParaRPr/>
          </a:p>
          <a:p>
            <a:pPr indent="-384047" lvl="0" marL="448056" rtl="0" algn="l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180" name="Google Shape;180;p11"/>
          <p:cNvCxnSpPr/>
          <p:nvPr/>
        </p:nvCxnSpPr>
        <p:spPr>
          <a:xfrm>
            <a:off x="1500166" y="4286256"/>
            <a:ext cx="64294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bubjbhjb.bmp" id="185" name="Google Shape;1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596" y="500042"/>
            <a:ext cx="8358246" cy="5572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 txBox="1"/>
          <p:nvPr/>
        </p:nvSpPr>
        <p:spPr>
          <a:xfrm>
            <a:off x="785786" y="500042"/>
            <a:ext cx="411683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PUNTO DE COBERTURA</a:t>
            </a:r>
            <a:endParaRPr sz="2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1" name="Google Shape;191;p13"/>
          <p:cNvSpPr txBox="1"/>
          <p:nvPr/>
        </p:nvSpPr>
        <p:spPr>
          <a:xfrm>
            <a:off x="857225" y="1428736"/>
            <a:ext cx="7429552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Es el nivel de producción para el cual se igualan los ingresos con los costos. (Para valores globales los ingresos por ventas con los costos totales; y para valores  individuales: el precio de venta con el costo total unitario)</a:t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1071538" y="4714884"/>
            <a:ext cx="5226111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baseline="-25000"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</a:t>
            </a: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= C</a:t>
            </a:r>
            <a:r>
              <a:rPr baseline="-25000"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</a:t>
            </a: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P</a:t>
            </a:r>
            <a:r>
              <a:rPr baseline="-25000"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 </a:t>
            </a: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m</a:t>
            </a:r>
            <a:r>
              <a:rPr baseline="-25000"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=  C</a:t>
            </a:r>
            <a:r>
              <a:rPr baseline="-25000"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</a:t>
            </a: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+ m</a:t>
            </a:r>
            <a:r>
              <a:rPr baseline="-25000"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. C</a:t>
            </a:r>
            <a:r>
              <a:rPr baseline="-25000"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vu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m</a:t>
            </a:r>
            <a:r>
              <a:rPr baseline="-25000" lang="es-ES" sz="24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 </a:t>
            </a:r>
            <a:r>
              <a:rPr lang="es-ES" sz="24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 ( P</a:t>
            </a:r>
            <a:r>
              <a:rPr baseline="-25000" lang="es-ES" sz="24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  </a:t>
            </a:r>
            <a:r>
              <a:rPr lang="es-ES" sz="24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 m</a:t>
            </a:r>
            <a:r>
              <a:rPr baseline="-25000" lang="es-ES" sz="24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r>
              <a:rPr lang="es-ES" sz="24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-  C</a:t>
            </a:r>
            <a:r>
              <a:rPr baseline="-25000" lang="es-ES" sz="24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  </a:t>
            </a:r>
            <a:r>
              <a:rPr lang="es-ES" sz="24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/  C</a:t>
            </a:r>
            <a:r>
              <a:rPr baseline="-25000" lang="es-ES" sz="24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vu </a:t>
            </a:r>
            <a:endParaRPr sz="2400">
              <a:solidFill>
                <a:srgbClr val="92D05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1285852" y="5786454"/>
            <a:ext cx="357190" cy="285752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E0E0E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1071538" y="3857628"/>
            <a:ext cx="67922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baseline="-25000"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  </a:t>
            </a: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  P</a:t>
            </a:r>
            <a:r>
              <a:rPr baseline="-25000"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 </a:t>
            </a: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 m</a:t>
            </a:r>
            <a:r>
              <a:rPr baseline="-25000"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      </a:t>
            </a: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C</a:t>
            </a:r>
            <a:r>
              <a:rPr baseline="-25000"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</a:t>
            </a: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=  C</a:t>
            </a:r>
            <a:r>
              <a:rPr baseline="-25000"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</a:t>
            </a: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+  m</a:t>
            </a:r>
            <a:r>
              <a:rPr baseline="-25000"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.  C</a:t>
            </a:r>
            <a:r>
              <a:rPr baseline="-25000"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vu</a:t>
            </a: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" name="Google Shape;199;p14"/>
          <p:cNvCxnSpPr/>
          <p:nvPr/>
        </p:nvCxnSpPr>
        <p:spPr>
          <a:xfrm flipH="1" rot="10800000">
            <a:off x="1000100" y="5715016"/>
            <a:ext cx="7072362" cy="7143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0" name="Google Shape;200;p14"/>
          <p:cNvCxnSpPr/>
          <p:nvPr/>
        </p:nvCxnSpPr>
        <p:spPr>
          <a:xfrm flipH="1" rot="5400000">
            <a:off x="-1071602" y="3571876"/>
            <a:ext cx="4929222" cy="7143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1" name="Google Shape;201;p14"/>
          <p:cNvCxnSpPr/>
          <p:nvPr/>
        </p:nvCxnSpPr>
        <p:spPr>
          <a:xfrm flipH="1" rot="10800000">
            <a:off x="1428728" y="1785926"/>
            <a:ext cx="5643602" cy="285752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14"/>
          <p:cNvCxnSpPr/>
          <p:nvPr/>
        </p:nvCxnSpPr>
        <p:spPr>
          <a:xfrm flipH="1" rot="10800000">
            <a:off x="1428728" y="1000108"/>
            <a:ext cx="5286412" cy="4786346"/>
          </a:xfrm>
          <a:prstGeom prst="straightConnector1">
            <a:avLst/>
          </a:prstGeom>
          <a:noFill/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14"/>
          <p:cNvSpPr txBox="1"/>
          <p:nvPr/>
        </p:nvSpPr>
        <p:spPr>
          <a:xfrm>
            <a:off x="1500166" y="3000372"/>
            <a:ext cx="29289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 -  -  -  -  -  -  -  -  -  -  -  -  -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04" name="Google Shape;204;p14"/>
          <p:cNvCxnSpPr/>
          <p:nvPr/>
        </p:nvCxnSpPr>
        <p:spPr>
          <a:xfrm flipH="1" rot="-5400000">
            <a:off x="3000364" y="4500570"/>
            <a:ext cx="2643206" cy="7143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5" name="Google Shape;205;p14"/>
          <p:cNvSpPr txBox="1"/>
          <p:nvPr/>
        </p:nvSpPr>
        <p:spPr>
          <a:xfrm>
            <a:off x="1500166" y="857232"/>
            <a:ext cx="19288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r>
              <a:rPr baseline="-25000" lang="es-ES" sz="24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 </a:t>
            </a: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r>
              <a:rPr lang="es-ES" sz="24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  </a:t>
            </a: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 $ ]</a:t>
            </a:r>
            <a:endParaRPr sz="2400">
              <a:solidFill>
                <a:srgbClr val="FFFF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p14"/>
          <p:cNvSpPr txBox="1"/>
          <p:nvPr/>
        </p:nvSpPr>
        <p:spPr>
          <a:xfrm>
            <a:off x="571472" y="2857496"/>
            <a:ext cx="928694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P</a:t>
            </a:r>
            <a:r>
              <a:rPr baseline="-25000" lang="es-ES" sz="2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7" name="Google Shape;207;p14"/>
          <p:cNvSpPr txBox="1"/>
          <p:nvPr/>
        </p:nvSpPr>
        <p:spPr>
          <a:xfrm>
            <a:off x="4071934" y="5929330"/>
            <a:ext cx="78581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</a:t>
            </a:r>
            <a:r>
              <a:rPr baseline="-25000"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8" name="Google Shape;208;p14"/>
          <p:cNvSpPr txBox="1"/>
          <p:nvPr/>
        </p:nvSpPr>
        <p:spPr>
          <a:xfrm>
            <a:off x="7858148" y="5857892"/>
            <a:ext cx="8572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</a:t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"/>
          <p:cNvSpPr txBox="1"/>
          <p:nvPr/>
        </p:nvSpPr>
        <p:spPr>
          <a:xfrm>
            <a:off x="1214414" y="928670"/>
            <a:ext cx="3655168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r>
              <a:rPr baseline="-25000"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  </a:t>
            </a: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 ( C</a:t>
            </a:r>
            <a:r>
              <a:rPr baseline="-25000"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</a:t>
            </a: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/  m  )   +  C</a:t>
            </a:r>
            <a:r>
              <a:rPr baseline="-25000"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vu</a:t>
            </a:r>
            <a:endParaRPr baseline="-25000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r>
              <a:rPr baseline="-25000"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</a:t>
            </a: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=  C</a:t>
            </a:r>
            <a:r>
              <a:rPr baseline="-25000"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</a:t>
            </a:r>
            <a:endParaRPr baseline="-25000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r>
              <a:rPr baseline="-25000"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</a:t>
            </a: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=   (  C</a:t>
            </a:r>
            <a:r>
              <a:rPr baseline="-25000"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</a:t>
            </a: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/ m</a:t>
            </a:r>
            <a:r>
              <a:rPr baseline="-25000"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)  +  C</a:t>
            </a:r>
            <a:r>
              <a:rPr baseline="-25000"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vu</a:t>
            </a:r>
            <a:endParaRPr baseline="-25000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</a:t>
            </a:r>
            <a:r>
              <a:rPr lang="es-ES" sz="18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</a:t>
            </a:r>
            <a:r>
              <a:rPr baseline="-25000" lang="es-ES" sz="18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r>
              <a:rPr lang="es-ES" sz="18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=  C</a:t>
            </a:r>
            <a:r>
              <a:rPr baseline="-25000" lang="es-ES" sz="18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</a:t>
            </a:r>
            <a:r>
              <a:rPr lang="es-ES" sz="18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/  ( P</a:t>
            </a:r>
            <a:r>
              <a:rPr baseline="-25000" lang="es-ES" sz="18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 </a:t>
            </a:r>
            <a:r>
              <a:rPr lang="es-ES" sz="18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 C</a:t>
            </a:r>
            <a:r>
              <a:rPr baseline="-25000" lang="es-ES" sz="18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vu  </a:t>
            </a:r>
            <a:r>
              <a:rPr lang="es-ES" sz="1800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1428728" y="4214818"/>
            <a:ext cx="285752" cy="21431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2D050"/>
          </a:solidFill>
          <a:ln cap="flat" cmpd="sng" w="254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2D05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G.bmp" id="219" name="Google Shape;2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158" y="1000108"/>
            <a:ext cx="8501122" cy="5072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 txBox="1"/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rtl="0" algn="l"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4200"/>
              <a:buFont typeface="Century Gothic"/>
              <a:buNone/>
            </a:pPr>
            <a:r>
              <a:rPr lang="es-ES"/>
              <a:t>SISTEMAS DE COSTEO</a:t>
            </a:r>
            <a:endParaRPr/>
          </a:p>
        </p:txBody>
      </p:sp>
      <p:sp>
        <p:nvSpPr>
          <p:cNvPr id="225" name="Google Shape;225;p17"/>
          <p:cNvSpPr txBox="1"/>
          <p:nvPr>
            <p:ph idx="1" type="body"/>
          </p:nvPr>
        </p:nvSpPr>
        <p:spPr>
          <a:xfrm>
            <a:off x="0" y="1882808"/>
            <a:ext cx="9144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44805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20"/>
              <a:buChar char="⦿"/>
            </a:pPr>
            <a:r>
              <a:rPr lang="es-ES" sz="2775"/>
              <a:t>Históricos                 </a:t>
            </a:r>
            <a:endParaRPr/>
          </a:p>
          <a:p>
            <a:pPr indent="-384047" lvl="0" marL="44805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2220"/>
              <a:buNone/>
            </a:pPr>
            <a:r>
              <a:rPr lang="es-ES" sz="2775"/>
              <a:t>                                         Directo   </a:t>
            </a:r>
            <a:endParaRPr/>
          </a:p>
          <a:p>
            <a:pPr indent="-384047" lvl="0" marL="44805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2220"/>
              <a:buNone/>
            </a:pPr>
            <a:r>
              <a:rPr lang="es-ES" sz="2775"/>
              <a:t>                                         Integral</a:t>
            </a:r>
            <a:endParaRPr/>
          </a:p>
          <a:p>
            <a:pPr indent="-384047" lvl="0" marL="44805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2220"/>
              <a:buNone/>
            </a:pPr>
            <a:r>
              <a:rPr lang="es-ES" sz="2775"/>
              <a:t>                                                                  Por órdenes </a:t>
            </a:r>
            <a:endParaRPr/>
          </a:p>
          <a:p>
            <a:pPr indent="-384047" lvl="0" marL="44805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2220"/>
              <a:buNone/>
            </a:pPr>
            <a:r>
              <a:rPr lang="es-ES" sz="2775"/>
              <a:t>                                                                  Por procesos</a:t>
            </a:r>
            <a:endParaRPr sz="2775"/>
          </a:p>
          <a:p>
            <a:pPr indent="-384047" lvl="0" marL="44805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2220"/>
              <a:buNone/>
            </a:pPr>
            <a:r>
              <a:rPr lang="es-ES" sz="2775"/>
              <a:t>  </a:t>
            </a:r>
            <a:endParaRPr sz="2775"/>
          </a:p>
          <a:p>
            <a:pPr indent="-384048" lvl="0" marL="44805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2220"/>
              <a:buChar char="⦿"/>
            </a:pPr>
            <a:r>
              <a:rPr lang="es-ES" sz="2775"/>
              <a:t>Pre-determinados</a:t>
            </a:r>
            <a:endParaRPr/>
          </a:p>
          <a:p>
            <a:pPr indent="-384047" lvl="0" marL="44805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2220"/>
              <a:buNone/>
            </a:pPr>
            <a:r>
              <a:rPr lang="es-ES" sz="2775"/>
              <a:t>                                              Estimados</a:t>
            </a:r>
            <a:endParaRPr/>
          </a:p>
          <a:p>
            <a:pPr indent="-384047" lvl="0" marL="44805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2220"/>
              <a:buNone/>
            </a:pPr>
            <a:r>
              <a:rPr lang="es-ES" sz="2775"/>
              <a:t>                                               Standards</a:t>
            </a:r>
            <a:endParaRPr sz="2775"/>
          </a:p>
          <a:p>
            <a:pPr indent="-384047" lvl="0" marL="44805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2220"/>
              <a:buNone/>
            </a:pPr>
            <a:r>
              <a:rPr lang="es-ES" sz="2775"/>
              <a:t>                                                             </a:t>
            </a:r>
            <a:endParaRPr sz="2775"/>
          </a:p>
        </p:txBody>
      </p:sp>
      <p:cxnSp>
        <p:nvCxnSpPr>
          <p:cNvPr id="226" name="Google Shape;226;p17"/>
          <p:cNvCxnSpPr/>
          <p:nvPr/>
        </p:nvCxnSpPr>
        <p:spPr>
          <a:xfrm>
            <a:off x="2571736" y="2071678"/>
            <a:ext cx="1214446" cy="428628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27" name="Google Shape;227;p17"/>
          <p:cNvCxnSpPr/>
          <p:nvPr/>
        </p:nvCxnSpPr>
        <p:spPr>
          <a:xfrm>
            <a:off x="2500298" y="2071678"/>
            <a:ext cx="1285884" cy="928694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28" name="Google Shape;228;p17"/>
          <p:cNvCxnSpPr/>
          <p:nvPr/>
        </p:nvCxnSpPr>
        <p:spPr>
          <a:xfrm>
            <a:off x="5786446" y="3071810"/>
            <a:ext cx="571504" cy="357190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29" name="Google Shape;229;p17"/>
          <p:cNvCxnSpPr/>
          <p:nvPr/>
        </p:nvCxnSpPr>
        <p:spPr>
          <a:xfrm flipH="1" rot="-5400000">
            <a:off x="5822165" y="3178967"/>
            <a:ext cx="571504" cy="500066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0" name="Google Shape;230;p17"/>
          <p:cNvCxnSpPr/>
          <p:nvPr/>
        </p:nvCxnSpPr>
        <p:spPr>
          <a:xfrm>
            <a:off x="3786182" y="4643446"/>
            <a:ext cx="714380" cy="357190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1" name="Google Shape;231;p17"/>
          <p:cNvCxnSpPr/>
          <p:nvPr/>
        </p:nvCxnSpPr>
        <p:spPr>
          <a:xfrm flipH="1" rot="-5400000">
            <a:off x="3607587" y="4679165"/>
            <a:ext cx="1000132" cy="785818"/>
          </a:xfrm>
          <a:prstGeom prst="straightConnector1">
            <a:avLst/>
          </a:prstGeom>
          <a:noFill/>
          <a:ln cap="flat" cmpd="sng" w="9525">
            <a:solidFill>
              <a:srgbClr val="FF2488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st cosr.bmp" id="236" name="Google Shape;2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24" y="500042"/>
            <a:ext cx="7072361" cy="6000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río">
  <a:themeElements>
    <a:clrScheme name="Brío">
      <a:dk1>
        <a:srgbClr val="000000"/>
      </a:dk1>
      <a:lt1>
        <a:srgbClr val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