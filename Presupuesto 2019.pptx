
<file path=[Content_Types].xml><?xml version="1.0" encoding="utf-8"?>
<Types xmlns="http://schemas.openxmlformats.org/package/2006/content-types">
  <Default ContentType="image/jpeg" Extension="jpg"/>
  <Default ContentType="application/vnd.openxmlformats-officedocument.spreadsheetml.sheet" Extension="xlsx"/>
  <Default ContentType="application/vnd.openxmlformats-officedocument.vmlDrawing" Extension="vml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spreadsheetml.sheet" PartName="/ppt/embeddings/Microsoft_Excel_Sheet1.xlsx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48" r:id="rId5"/>
    <p:sldMasterId id="214748365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6858000" cx="9144000"/>
  <p:notesSz cx="7077075" cy="9345600"/>
  <p:embeddedFontLst>
    <p:embeddedFont>
      <p:font typeface="Constantia"/>
      <p:regular r:id="rId31"/>
      <p:bold r:id="rId32"/>
      <p:italic r:id="rId33"/>
      <p:boldItalic r:id="rId34"/>
    </p:embeddedFont>
    <p:embeddedFont>
      <p:font typeface="Arial Black"/>
      <p:regular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r:id="rId36" roundtripDataSignature="AMtx7mhgZISzLQ1OZ8F28IOFtxSP5YCvf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tableStyles.xml><?xml version="1.0" encoding="utf-8"?>
<a:tblStyleLst xmlns:a="http://schemas.openxmlformats.org/drawingml/2006/main" xmlns:r="http://schemas.openxmlformats.org/officeDocument/2006/relationships" def="{791BDDC4-F6F5-4F02-AAA9-826C7DE0A0E5}">
  <a:tblStyle styleId="{791BDDC4-F6F5-4F02-AAA9-826C7DE0A0E5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fill>
          <a:solidFill>
            <a:srgbClr val="CAD4EA"/>
          </a:solidFill>
        </a:fill>
      </a:tcStyle>
    </a:band1H>
    <a:band2H>
      <a:tcTxStyle/>
    </a:band2H>
    <a:band1V>
      <a:tcTxStyle/>
      <a:tcStyle>
        <a:fill>
          <a:solidFill>
            <a:srgbClr val="CAD4EA"/>
          </a:solidFill>
        </a:fill>
      </a:tcStyle>
    </a:band1V>
    <a:band2V>
      <a:tcTxStyle/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Constantia-regular.fntdata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33" Type="http://schemas.openxmlformats.org/officeDocument/2006/relationships/font" Target="fonts/Constantia-italic.fntdata"/><Relationship Id="rId10" Type="http://schemas.openxmlformats.org/officeDocument/2006/relationships/slide" Target="slides/slide3.xml"/><Relationship Id="rId32" Type="http://schemas.openxmlformats.org/officeDocument/2006/relationships/font" Target="fonts/Constantia-bold.fntdata"/><Relationship Id="rId13" Type="http://schemas.openxmlformats.org/officeDocument/2006/relationships/slide" Target="slides/slide6.xml"/><Relationship Id="rId35" Type="http://schemas.openxmlformats.org/officeDocument/2006/relationships/font" Target="fonts/ArialBlack-regular.fntdata"/><Relationship Id="rId12" Type="http://schemas.openxmlformats.org/officeDocument/2006/relationships/slide" Target="slides/slide5.xml"/><Relationship Id="rId34" Type="http://schemas.openxmlformats.org/officeDocument/2006/relationships/font" Target="fonts/Constantia-boldItalic.fntdata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36" Type="http://customschemas.google.com/relationships/presentationmetadata" Target="meta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drawings/_rels/vmlDrawing1.v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5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7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0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7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7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8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8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9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19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0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20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1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21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22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22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23:notes"/>
          <p:cNvSpPr txBox="1"/>
          <p:nvPr>
            <p:ph idx="1" type="body"/>
          </p:nvPr>
        </p:nvSpPr>
        <p:spPr>
          <a:xfrm>
            <a:off x="707700" y="4439150"/>
            <a:ext cx="5661650" cy="42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23:notes"/>
          <p:cNvSpPr/>
          <p:nvPr>
            <p:ph idx="2" type="sldImg"/>
          </p:nvPr>
        </p:nvSpPr>
        <p:spPr>
          <a:xfrm>
            <a:off x="1179725" y="700900"/>
            <a:ext cx="4718275" cy="3504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iapositiva de título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7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7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19" name="Google Shape;19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objetos" type="obj">
  <p:cSld name="OBJEC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 blanco" type="blank">
  <p:cSld name="BLANK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iapositiva de título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6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6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Encabezado de sección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0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Dos objetos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mparació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32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ólo el título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33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ontenido con título" type="objTx">
  <p:cSld name="OBJECT_WITH_CAPTION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4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0" name="Google Shape;80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Imagen con título" showMasterSp="0" type="picTx">
  <p:cSld name="PICTURE_WITH_CAPTION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5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5" name="Google Shape;85;p35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6" name="Google Shape;86;p35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3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5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35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accent3"/>
              </a:buClr>
              <a:buSzPts val="304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2" name="Google Shape;92;p35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3" name="Google Shape;93;p35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y texto vertical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7" name="Google Shape;9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ítulo vertical y texto" type="vertTitleAndTx">
  <p:cSld name="VERTICAL_TITLE_AND_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7"/>
          <p:cNvSpPr txBox="1"/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7"/>
          <p:cNvSpPr txBox="1"/>
          <p:nvPr>
            <p:ph idx="1" type="body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3" name="Google Shape;103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ransition>
    <p:fade thruBlk="1"/>
  </p:transition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5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25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2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0" name="Google Shape;10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1" name="Google Shape;11;p2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2" name="Google Shape;12;p2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25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25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25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4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4" name="Google Shape;24;p24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" name="Google Shape;25;p2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2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7" name="Google Shape;2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8" name="Google Shape;28;p2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29" name="Google Shape;29;p2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0" name="Google Shape;30;p24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31" name="Google Shape;31;p24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2" name="Google Shape;32;p24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transition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vmlDrawing" Target="../drawings/vmlDrawing1.vml"/><Relationship Id="rId4" Type="http://schemas.openxmlformats.org/officeDocument/2006/relationships/package" Target="../embeddings/Microsoft_Excel_Sheet1.xlsx"/><Relationship Id="rId5" Type="http://schemas.openxmlformats.org/officeDocument/2006/relationships/package" Target="../embeddings/Microsoft_Excel_Sheet1.xlsx"/><Relationship Id="rId6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PRESUPUESTO</a:t>
            </a:r>
            <a:endParaRPr/>
          </a:p>
        </p:txBody>
      </p:sp>
      <p:sp>
        <p:nvSpPr>
          <p:cNvPr id="111" name="Google Shape;111;p1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PRESUPUESTO</a:t>
            </a:r>
            <a:endParaRPr/>
          </a:p>
        </p:txBody>
      </p:sp>
      <p:sp>
        <p:nvSpPr>
          <p:cNvPr id="117" name="Google Shape;117;p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Definición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Estructura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Formulación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Control Presupuestario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Estados Contables Proyectados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Definición</a:t>
            </a:r>
            <a:endParaRPr/>
          </a:p>
        </p:txBody>
      </p:sp>
      <p:sp>
        <p:nvSpPr>
          <p:cNvPr id="123" name="Google Shape;123;p3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 sz="4000">
                <a:solidFill>
                  <a:srgbClr val="595959"/>
                </a:solidFill>
              </a:rPr>
              <a:t>     Es una herramienta de gestión empresarial, que se utiliza para prever acontecimientos futuros propios, en el corto plazo.</a:t>
            </a:r>
            <a:endParaRPr sz="4000">
              <a:solidFill>
                <a:srgbClr val="595959"/>
              </a:solidFill>
            </a:endParaRPr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Definición</a:t>
            </a:r>
            <a:endParaRPr/>
          </a:p>
        </p:txBody>
      </p:sp>
      <p:sp>
        <p:nvSpPr>
          <p:cNvPr id="129" name="Google Shape;129;p4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3800"/>
              <a:buNone/>
            </a:pPr>
            <a:r>
              <a:rPr lang="en-US" sz="4000">
                <a:solidFill>
                  <a:srgbClr val="002060"/>
                </a:solidFill>
              </a:rPr>
              <a:t>    Conjunto de patrones establecidos y coordinados en forma sistemática para lograr ciertos objetivos, para un período determinado</a:t>
            </a:r>
            <a:r>
              <a:rPr lang="en-US"/>
              <a:t>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Estructura</a:t>
            </a:r>
            <a:endParaRPr/>
          </a:p>
        </p:txBody>
      </p:sp>
      <p:sp>
        <p:nvSpPr>
          <p:cNvPr id="135" name="Google Shape;135;p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gradFill>
            <a:gsLst>
              <a:gs pos="0">
                <a:srgbClr val="C8DF94"/>
              </a:gs>
              <a:gs pos="43000">
                <a:srgbClr val="E0F1BD"/>
              </a:gs>
              <a:gs pos="93000">
                <a:srgbClr val="F4F9EB"/>
              </a:gs>
              <a:gs pos="100000">
                <a:srgbClr val="FBFDF8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rgbClr val="788E33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38100">
              <a:srgbClr val="000000"/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Establecer las metas a conseguir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Coordinar las operaciones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⮚"/>
            </a:pPr>
            <a:r>
              <a:rPr lang="en-US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Determinar patrones que sirvan de referencias</a:t>
            </a:r>
            <a:endParaRPr/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gradFill>
            <a:gsLst>
              <a:gs pos="0">
                <a:srgbClr val="949494"/>
              </a:gs>
              <a:gs pos="43000">
                <a:srgbClr val="C4C4C4"/>
              </a:gs>
              <a:gs pos="93000">
                <a:srgbClr val="EDEDED"/>
              </a:gs>
              <a:gs pos="100000">
                <a:srgbClr val="F9F9F9"/>
              </a:gs>
            </a:gsLst>
            <a:path path="circle">
              <a:fillToRect b="50%" l="50%" r="50%" t="50%"/>
            </a:path>
            <a:tileRect/>
          </a:gra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ctr" dir="5400000" dist="38100">
              <a:srgbClr val="000000"/>
            </a:outerShdw>
          </a:effectLst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Calibri"/>
              <a:buNone/>
            </a:pPr>
            <a:r>
              <a:rPr lang="en-US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Formulación</a:t>
            </a:r>
            <a:endParaRPr/>
          </a:p>
        </p:txBody>
      </p:sp>
      <p:sp>
        <p:nvSpPr>
          <p:cNvPr id="141" name="Google Shape;141;p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blipFill rotWithShape="1">
            <a:blip r:embed="rId3">
              <a:alphaModFix/>
            </a:blip>
            <a:tile algn="tl" flip="none" tx="0" sx="100000" ty="0" sy="100000"/>
          </a:blip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Parámetros a considerar: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✔"/>
            </a:pPr>
            <a:r>
              <a:rPr lang="en-US"/>
              <a:t> Variables macroeconómicas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✔"/>
            </a:pPr>
            <a:r>
              <a:rPr lang="en-US"/>
              <a:t>Política empresarial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✔"/>
            </a:pPr>
            <a:r>
              <a:rPr lang="en-US"/>
              <a:t>Grado de exactitud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✔"/>
            </a:pPr>
            <a:r>
              <a:rPr lang="en-US"/>
              <a:t>Situación del mercado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✔"/>
            </a:pPr>
            <a:r>
              <a:rPr lang="en-US"/>
              <a:t>Políticas fiscales a corto y mediano plazo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✔"/>
            </a:pPr>
            <a:r>
              <a:rPr lang="en-US"/>
              <a:t>Período considerado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Font typeface="Noto Sans Symbols"/>
              <a:buChar char="✔"/>
            </a:pPr>
            <a:r>
              <a:rPr lang="en-US"/>
              <a:t> Otros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3571868" y="428604"/>
            <a:ext cx="2357454" cy="50006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Presupuesto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1071538" y="1785926"/>
            <a:ext cx="2000264" cy="50006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P. Operativo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3857620" y="1714488"/>
            <a:ext cx="1785950" cy="50006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Financ. Externa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6643702" y="1714488"/>
            <a:ext cx="2143140" cy="50006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P. Inversiones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50" name="Google Shape;150;p7"/>
          <p:cNvCxnSpPr/>
          <p:nvPr/>
        </p:nvCxnSpPr>
        <p:spPr>
          <a:xfrm rot="5400000">
            <a:off x="4572794" y="1142190"/>
            <a:ext cx="285752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1" name="Google Shape;151;p7"/>
          <p:cNvCxnSpPr/>
          <p:nvPr/>
        </p:nvCxnSpPr>
        <p:spPr>
          <a:xfrm>
            <a:off x="2071670" y="1285860"/>
            <a:ext cx="5643602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2" name="Google Shape;152;p7"/>
          <p:cNvCxnSpPr/>
          <p:nvPr/>
        </p:nvCxnSpPr>
        <p:spPr>
          <a:xfrm rot="5400000">
            <a:off x="1822431" y="1535099"/>
            <a:ext cx="500066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3" name="Google Shape;153;p7"/>
          <p:cNvCxnSpPr/>
          <p:nvPr/>
        </p:nvCxnSpPr>
        <p:spPr>
          <a:xfrm rot="5400000">
            <a:off x="7501752" y="1499380"/>
            <a:ext cx="428628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4" name="Google Shape;154;p7"/>
          <p:cNvSpPr/>
          <p:nvPr/>
        </p:nvSpPr>
        <p:spPr>
          <a:xfrm>
            <a:off x="0" y="2857496"/>
            <a:ext cx="1071538" cy="50006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Compras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1214414" y="2857496"/>
            <a:ext cx="914400" cy="50006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Prod.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6" name="Google Shape;156;p7"/>
          <p:cNvSpPr/>
          <p:nvPr/>
        </p:nvSpPr>
        <p:spPr>
          <a:xfrm>
            <a:off x="2285984" y="2857496"/>
            <a:ext cx="914400" cy="50006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Ventas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57" name="Google Shape;157;p7"/>
          <p:cNvSpPr/>
          <p:nvPr/>
        </p:nvSpPr>
        <p:spPr>
          <a:xfrm>
            <a:off x="3357554" y="2857496"/>
            <a:ext cx="985838" cy="50006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Admin.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58" name="Google Shape;158;p7"/>
          <p:cNvCxnSpPr/>
          <p:nvPr/>
        </p:nvCxnSpPr>
        <p:spPr>
          <a:xfrm flipH="1">
            <a:off x="428596" y="2285992"/>
            <a:ext cx="1285886" cy="500066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9" name="Google Shape;159;p7"/>
          <p:cNvCxnSpPr/>
          <p:nvPr/>
        </p:nvCxnSpPr>
        <p:spPr>
          <a:xfrm>
            <a:off x="2428860" y="2285992"/>
            <a:ext cx="1357322" cy="500066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0" name="Google Shape;160;p7"/>
          <p:cNvCxnSpPr/>
          <p:nvPr/>
        </p:nvCxnSpPr>
        <p:spPr>
          <a:xfrm flipH="1" rot="-5400000">
            <a:off x="2143108" y="2285992"/>
            <a:ext cx="500066" cy="500066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1" name="Google Shape;161;p7"/>
          <p:cNvCxnSpPr/>
          <p:nvPr/>
        </p:nvCxnSpPr>
        <p:spPr>
          <a:xfrm rot="5400000">
            <a:off x="1500166" y="2285992"/>
            <a:ext cx="500066" cy="500066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2" name="Google Shape;162;p7"/>
          <p:cNvSpPr/>
          <p:nvPr/>
        </p:nvSpPr>
        <p:spPr>
          <a:xfrm>
            <a:off x="5786446" y="2857496"/>
            <a:ext cx="1128714" cy="50006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Compras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63" name="Google Shape;163;p7"/>
          <p:cNvSpPr/>
          <p:nvPr/>
        </p:nvSpPr>
        <p:spPr>
          <a:xfrm>
            <a:off x="7072330" y="2857496"/>
            <a:ext cx="928694" cy="50006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Tecnol.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64" name="Google Shape;164;p7"/>
          <p:cNvSpPr/>
          <p:nvPr/>
        </p:nvSpPr>
        <p:spPr>
          <a:xfrm>
            <a:off x="8229600" y="2857496"/>
            <a:ext cx="914400" cy="500066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Invest.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65" name="Google Shape;165;p7"/>
          <p:cNvCxnSpPr/>
          <p:nvPr/>
        </p:nvCxnSpPr>
        <p:spPr>
          <a:xfrm flipH="1">
            <a:off x="6286512" y="2285992"/>
            <a:ext cx="1143008" cy="500066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6" name="Google Shape;166;p7"/>
          <p:cNvCxnSpPr/>
          <p:nvPr/>
        </p:nvCxnSpPr>
        <p:spPr>
          <a:xfrm rot="5400000">
            <a:off x="7322363" y="2464587"/>
            <a:ext cx="500066" cy="142876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7" name="Google Shape;167;p7"/>
          <p:cNvCxnSpPr/>
          <p:nvPr/>
        </p:nvCxnSpPr>
        <p:spPr>
          <a:xfrm>
            <a:off x="7929586" y="2285992"/>
            <a:ext cx="785818" cy="500066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8" name="Google Shape;168;p7"/>
          <p:cNvSpPr/>
          <p:nvPr/>
        </p:nvSpPr>
        <p:spPr>
          <a:xfrm>
            <a:off x="3929058" y="5857892"/>
            <a:ext cx="1571636" cy="785818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Estados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Contables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Proyectados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69" name="Google Shape;169;p7"/>
          <p:cNvSpPr/>
          <p:nvPr/>
        </p:nvSpPr>
        <p:spPr>
          <a:xfrm>
            <a:off x="3929058" y="4643446"/>
            <a:ext cx="1557342" cy="571504"/>
          </a:xfrm>
          <a:prstGeom prst="rect">
            <a:avLst/>
          </a:prstGeom>
          <a:solidFill>
            <a:schemeClr val="accent1"/>
          </a:solidFill>
          <a:ln cap="flat" cmpd="sng" w="25400">
            <a:solidFill>
              <a:srgbClr val="0A519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Presupuesto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Financiero</a:t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170" name="Google Shape;170;p7"/>
          <p:cNvCxnSpPr/>
          <p:nvPr/>
        </p:nvCxnSpPr>
        <p:spPr>
          <a:xfrm>
            <a:off x="500034" y="4071942"/>
            <a:ext cx="8215370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" name="Google Shape;171;p7"/>
          <p:cNvCxnSpPr/>
          <p:nvPr/>
        </p:nvCxnSpPr>
        <p:spPr>
          <a:xfrm rot="5400000">
            <a:off x="3858414" y="3213892"/>
            <a:ext cx="1714512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2" name="Google Shape;172;p7"/>
          <p:cNvCxnSpPr/>
          <p:nvPr/>
        </p:nvCxnSpPr>
        <p:spPr>
          <a:xfrm rot="5400000">
            <a:off x="178563" y="3750471"/>
            <a:ext cx="642942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3" name="Google Shape;173;p7"/>
          <p:cNvCxnSpPr/>
          <p:nvPr/>
        </p:nvCxnSpPr>
        <p:spPr>
          <a:xfrm rot="5400000">
            <a:off x="1321571" y="3750471"/>
            <a:ext cx="642942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4" name="Google Shape;174;p7"/>
          <p:cNvCxnSpPr/>
          <p:nvPr/>
        </p:nvCxnSpPr>
        <p:spPr>
          <a:xfrm rot="5400000">
            <a:off x="2393141" y="3750471"/>
            <a:ext cx="642942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5" name="Google Shape;175;p7"/>
          <p:cNvCxnSpPr/>
          <p:nvPr/>
        </p:nvCxnSpPr>
        <p:spPr>
          <a:xfrm rot="5400000">
            <a:off x="3464711" y="3750471"/>
            <a:ext cx="642942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6" name="Google Shape;176;p7"/>
          <p:cNvCxnSpPr/>
          <p:nvPr/>
        </p:nvCxnSpPr>
        <p:spPr>
          <a:xfrm rot="5400000">
            <a:off x="5965041" y="3750471"/>
            <a:ext cx="642942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7" name="Google Shape;177;p7"/>
          <p:cNvCxnSpPr/>
          <p:nvPr/>
        </p:nvCxnSpPr>
        <p:spPr>
          <a:xfrm rot="5400000">
            <a:off x="7250925" y="3750471"/>
            <a:ext cx="642942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8" name="Google Shape;178;p7"/>
          <p:cNvCxnSpPr/>
          <p:nvPr/>
        </p:nvCxnSpPr>
        <p:spPr>
          <a:xfrm rot="5400000">
            <a:off x="8393933" y="3750471"/>
            <a:ext cx="642942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9" name="Google Shape;179;p7"/>
          <p:cNvCxnSpPr/>
          <p:nvPr/>
        </p:nvCxnSpPr>
        <p:spPr>
          <a:xfrm rot="5400000">
            <a:off x="4500562" y="4357694"/>
            <a:ext cx="428628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0" name="Google Shape;180;p7"/>
          <p:cNvCxnSpPr/>
          <p:nvPr/>
        </p:nvCxnSpPr>
        <p:spPr>
          <a:xfrm rot="5400000">
            <a:off x="4500562" y="5572140"/>
            <a:ext cx="428628" cy="1588"/>
          </a:xfrm>
          <a:prstGeom prst="straightConnector1">
            <a:avLst/>
          </a:prstGeom>
          <a:noFill/>
          <a:ln cap="flat" cmpd="sng" w="9525">
            <a:solidFill>
              <a:srgbClr val="075192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       Control presupuestario</a:t>
            </a:r>
            <a:endParaRPr/>
          </a:p>
        </p:txBody>
      </p:sp>
      <p:sp>
        <p:nvSpPr>
          <p:cNvPr id="186" name="Google Shape;186;p8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gradFill>
            <a:gsLst>
              <a:gs pos="0">
                <a:srgbClr val="89AAED"/>
              </a:gs>
              <a:gs pos="50000">
                <a:srgbClr val="B7C9F3"/>
              </a:gs>
              <a:gs pos="100000">
                <a:srgbClr val="DCE4F8"/>
              </a:gs>
            </a:gsLst>
            <a:path path="circle">
              <a:fillToRect b="100%" l="100%"/>
            </a:path>
            <a:tileRect r="-100%" t="-100%"/>
          </a:gra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 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      Es la herramienta de verificación que permite corroborar el cumplimiento o violación de las pautas presupuestarias establecidas.</a:t>
            </a:r>
            <a:endParaRPr/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1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2" name="Google Shape;192;p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359"/>
              <a:buNone/>
            </a:pPr>
            <a:r>
              <a:rPr lang="en-US" sz="1430"/>
              <a:t>               </a:t>
            </a:r>
            <a:r>
              <a:rPr b="1" lang="en-US" sz="1430"/>
              <a:t>PAUTAS  PRESUPUESTARIAS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286"/>
              </a:spcBef>
              <a:spcAft>
                <a:spcPts val="0"/>
              </a:spcAft>
              <a:buSzPts val="1359"/>
              <a:buNone/>
            </a:pPr>
            <a:r>
              <a:rPr lang="en-US" sz="1430"/>
              <a:t>	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286"/>
              </a:spcBef>
              <a:spcAft>
                <a:spcPts val="0"/>
              </a:spcAft>
              <a:buSzPts val="1359"/>
              <a:buChar char="⚫"/>
            </a:pPr>
            <a:r>
              <a:rPr b="1" lang="en-US" sz="1430"/>
              <a:t>Período presupuestado</a:t>
            </a:r>
            <a:r>
              <a:rPr lang="en-US" sz="1430"/>
              <a:t>: 1 año.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286"/>
              </a:spcBef>
              <a:spcAft>
                <a:spcPts val="0"/>
              </a:spcAft>
              <a:buSzPts val="1359"/>
              <a:buChar char="⚫"/>
            </a:pPr>
            <a:r>
              <a:rPr b="1" lang="en-US" sz="1430"/>
              <a:t>Monto de ventas</a:t>
            </a:r>
            <a:r>
              <a:rPr lang="en-US" sz="1430"/>
              <a:t>: 42.000 unidades a $ 50 c/u  ( 4000 mensuales los primeros 10 meses y 1000 los dos últimos).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286"/>
              </a:spcBef>
              <a:spcAft>
                <a:spcPts val="0"/>
              </a:spcAft>
              <a:buSzPts val="1359"/>
              <a:buChar char="⚫"/>
            </a:pPr>
            <a:r>
              <a:rPr b="1" lang="en-US" sz="1430"/>
              <a:t>Costo de cada producto</a:t>
            </a:r>
            <a:r>
              <a:rPr lang="en-US" sz="1430"/>
              <a:t>: 2 unidades del material A ($ 2 c/u) ; 3 unidades del material B ($ 1 c/u) ; 0,25 horas hombre por producto ($ 60 c/hora) ; gastos de fabricación de $ 5 por producto. En Nov y Dic se agregan $ 15.000 de MO fija.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286"/>
              </a:spcBef>
              <a:spcAft>
                <a:spcPts val="0"/>
              </a:spcAft>
              <a:buSzPts val="1359"/>
              <a:buChar char="⚫"/>
            </a:pPr>
            <a:r>
              <a:rPr lang="en-US" sz="1430"/>
              <a:t>Los Gastos Operativos permanecerán en el mismo valor (prorrateados por mes), los de Comercialización seguirán siendo del 1 % de las ventas, y los financieros aumentarán a $ 36.000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286"/>
              </a:spcBef>
              <a:spcAft>
                <a:spcPts val="0"/>
              </a:spcAft>
              <a:buSzPts val="1359"/>
              <a:buChar char="⚫"/>
            </a:pPr>
            <a:r>
              <a:rPr lang="en-US" sz="1430"/>
              <a:t>Las amortizaciones serán del 10 % del valor final de Bs. De Uso (a incluir en los gastos operativos).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286"/>
              </a:spcBef>
              <a:spcAft>
                <a:spcPts val="0"/>
              </a:spcAft>
              <a:buSzPts val="1359"/>
              <a:buChar char="⚫"/>
            </a:pPr>
            <a:r>
              <a:rPr lang="en-US" sz="1430"/>
              <a:t>Se calcula pagar impuestos a las ganancias por $ 125.000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286"/>
              </a:spcBef>
              <a:spcAft>
                <a:spcPts val="0"/>
              </a:spcAft>
              <a:buSzPts val="1359"/>
              <a:buChar char="⚫"/>
            </a:pPr>
            <a:r>
              <a:rPr b="1" lang="en-US" sz="1430"/>
              <a:t>Ingresos</a:t>
            </a:r>
            <a:r>
              <a:rPr lang="en-US" sz="1430"/>
              <a:t>: de cada venta se espera cobrar el 20 % en efectivo y el 80 % a los 60 días. De los créditos anteriores se cobrarán $ 150.000 el primer mes y $ 230.000 el segundo.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286"/>
              </a:spcBef>
              <a:spcAft>
                <a:spcPts val="0"/>
              </a:spcAft>
              <a:buSzPts val="1359"/>
              <a:buChar char="⚫"/>
            </a:pPr>
            <a:r>
              <a:rPr b="1" lang="en-US" sz="1430"/>
              <a:t>Egresos:</a:t>
            </a:r>
            <a:r>
              <a:rPr lang="en-US" sz="1430"/>
              <a:t> las materias primas se abonan a los 30 días. En Ene se pagarán $ 24.000 a proveedores del período anterior. Los gastos de ventas se abonan a los 60 días (se adeudan $ 7.500 y $ 10.000 a pagar el primero y segundo mes respectivamente). Los gastos financieros se estiman constantes a pagar mensualmente. Se pagarán  deudas bancarias por $ 4.000 cada mes. Los sueldos y restantes gastos se pagan al concluir cada mes. Los impuestos adeudados se abonarán $ 30.000 en Abr y $ 50.000 en Sep.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286"/>
              </a:spcBef>
              <a:spcAft>
                <a:spcPts val="0"/>
              </a:spcAft>
              <a:buSzPts val="1359"/>
              <a:buChar char="⚫"/>
            </a:pPr>
            <a:r>
              <a:rPr lang="en-US" sz="1430"/>
              <a:t>Se abonarán dividendos por $ 350.000 en Mar.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286"/>
              </a:spcBef>
              <a:spcAft>
                <a:spcPts val="0"/>
              </a:spcAft>
              <a:buSzPts val="1359"/>
              <a:buChar char="⚫"/>
            </a:pPr>
            <a:r>
              <a:rPr lang="en-US" sz="1430"/>
              <a:t>Se comprará una máquina en Sep, por $ 200.000 que se abonará con efectivo.</a:t>
            </a:r>
            <a:endParaRPr/>
          </a:p>
          <a:p>
            <a:pPr indent="-274320" lvl="0" marL="274320" rtl="0" algn="l">
              <a:lnSpc>
                <a:spcPct val="80000"/>
              </a:lnSpc>
              <a:spcBef>
                <a:spcPts val="286"/>
              </a:spcBef>
              <a:spcAft>
                <a:spcPts val="0"/>
              </a:spcAft>
              <a:buSzPts val="1359"/>
              <a:buNone/>
            </a:pPr>
            <a:r>
              <a:rPr lang="en-US" sz="1430"/>
              <a:t> </a:t>
            </a:r>
            <a:endParaRPr sz="1430"/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0"/>
          <p:cNvSpPr/>
          <p:nvPr/>
        </p:nvSpPr>
        <p:spPr>
          <a:xfrm flipH="1">
            <a:off x="428596" y="2007545"/>
            <a:ext cx="8572560" cy="35394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</a:t>
            </a:r>
            <a:r>
              <a:rPr b="0" i="0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 GENERAL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en-US" sz="16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ACTIVO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1.974.500          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PASIVO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</a:t>
            </a:r>
            <a:r>
              <a:rPr b="0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384.500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Activo Corriente</a:t>
            </a:r>
            <a:r>
              <a:rPr b="1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1.124.500                         </a:t>
            </a:r>
            <a:r>
              <a:rPr b="1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1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Pasivo Cte</a:t>
            </a:r>
            <a:r>
              <a:rPr b="1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</a:t>
            </a:r>
            <a:endParaRPr b="1" i="1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Caja y Bancos          604.000                                         Deudas Comerciales        24.000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Bienes de Cambio    140.500                                         Deudas Bancarias          220.000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Créditos                    380.000                                         Deudas Impositivas      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123.000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Deudas Sociales                17.500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1" lang="en-US" sz="1600" u="sng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Activo no Cte.</a:t>
            </a:r>
            <a:r>
              <a:rPr b="1" i="1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</a:t>
            </a: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850</a:t>
            </a: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.000                        </a:t>
            </a:r>
            <a:r>
              <a:rPr b="1" i="0" lang="en-US" sz="16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PATR. NETO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               </a:t>
            </a:r>
            <a:r>
              <a:rPr b="1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1.590.000   </a:t>
            </a:r>
            <a:endParaRPr b="1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Bienes de Uso          850.000                                         Capital                         1.100.000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Reservas                           24.500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                                                                         Resultados                      465.500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600"/>
              <a:buFont typeface="Arial"/>
              <a:buNone/>
            </a:pPr>
            <a:r>
              <a:rPr b="1" i="0" lang="en-US" sz="16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TOTAL ACTIVO :                             1.974.500</a:t>
            </a:r>
            <a:r>
              <a:rPr b="1" i="0" lang="en-US" sz="16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b="1" i="0" lang="en-US" sz="1600" u="sng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TOTAL PAS. + P.N.:                1.974.500</a:t>
            </a:r>
            <a:endParaRPr/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tantia"/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"/>
          <p:cNvSpPr/>
          <p:nvPr/>
        </p:nvSpPr>
        <p:spPr>
          <a:xfrm>
            <a:off x="1071538" y="857232"/>
            <a:ext cx="7072362" cy="5816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ESTADO DE RESULTADOS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Ventas                      1.750.000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Costo de Ventas  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(  945.000 ) 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Utilidad Bruta           805.000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Gs. Operativos         ( 171.600 )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Gs. Comerc.             (   17.500 )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Gs. Financieros     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(   31.900 )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Utilidad Operativa      584.000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Impuesto Gananc. </a:t>
            </a:r>
            <a:r>
              <a:rPr lang="en-US" sz="24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( 118.500 )</a:t>
            </a: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Resultado del Ejerc.   465.500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7" name="Google Shape;207;p12"/>
          <p:cNvGraphicFramePr/>
          <p:nvPr/>
        </p:nvGraphicFramePr>
        <p:xfrm>
          <a:off x="642912" y="139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{791BDDC4-F6F5-4F02-AAA9-826C7DE0A0E5}</a:tableStyleId>
              </a:tblPr>
              <a:tblGrid>
                <a:gridCol w="1010125"/>
                <a:gridCol w="1010125"/>
                <a:gridCol w="1010125"/>
                <a:gridCol w="1010125"/>
                <a:gridCol w="1010125"/>
                <a:gridCol w="1010125"/>
                <a:gridCol w="1010125"/>
                <a:gridCol w="10101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FEB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JUN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JUL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Ventas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MP 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MPB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GF      $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08" name="Google Shape;208;p12"/>
          <p:cNvSpPr txBox="1"/>
          <p:nvPr/>
        </p:nvSpPr>
        <p:spPr>
          <a:xfrm>
            <a:off x="1714480" y="1785926"/>
            <a:ext cx="785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09" name="Google Shape;209;p12"/>
          <p:cNvSpPr txBox="1"/>
          <p:nvPr/>
        </p:nvSpPr>
        <p:spPr>
          <a:xfrm>
            <a:off x="2714612" y="1785926"/>
            <a:ext cx="785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10" name="Google Shape;210;p12"/>
          <p:cNvSpPr txBox="1"/>
          <p:nvPr/>
        </p:nvSpPr>
        <p:spPr>
          <a:xfrm>
            <a:off x="3786182" y="1785926"/>
            <a:ext cx="785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4786314" y="1785926"/>
            <a:ext cx="785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5786446" y="1785926"/>
            <a:ext cx="785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13" name="Google Shape;213;p12"/>
          <p:cNvSpPr txBox="1"/>
          <p:nvPr/>
        </p:nvSpPr>
        <p:spPr>
          <a:xfrm>
            <a:off x="6786578" y="1785926"/>
            <a:ext cx="785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14" name="Google Shape;214;p12"/>
          <p:cNvSpPr txBox="1"/>
          <p:nvPr/>
        </p:nvSpPr>
        <p:spPr>
          <a:xfrm>
            <a:off x="7786710" y="1785926"/>
            <a:ext cx="7858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1714480" y="2143116"/>
            <a:ext cx="919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2643174" y="2143116"/>
            <a:ext cx="919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3714744" y="2143116"/>
            <a:ext cx="919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18" name="Google Shape;218;p12"/>
          <p:cNvSpPr txBox="1"/>
          <p:nvPr/>
        </p:nvSpPr>
        <p:spPr>
          <a:xfrm>
            <a:off x="4714876" y="2143116"/>
            <a:ext cx="919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19" name="Google Shape;219;p12"/>
          <p:cNvSpPr txBox="1"/>
          <p:nvPr/>
        </p:nvSpPr>
        <p:spPr>
          <a:xfrm>
            <a:off x="5715008" y="2143116"/>
            <a:ext cx="919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0" name="Google Shape;220;p12"/>
          <p:cNvSpPr txBox="1"/>
          <p:nvPr/>
        </p:nvSpPr>
        <p:spPr>
          <a:xfrm>
            <a:off x="6715140" y="2143116"/>
            <a:ext cx="919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1" name="Google Shape;221;p12"/>
          <p:cNvSpPr txBox="1"/>
          <p:nvPr/>
        </p:nvSpPr>
        <p:spPr>
          <a:xfrm>
            <a:off x="7786710" y="2143116"/>
            <a:ext cx="919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2" name="Google Shape;222;p12"/>
          <p:cNvSpPr txBox="1"/>
          <p:nvPr/>
        </p:nvSpPr>
        <p:spPr>
          <a:xfrm>
            <a:off x="1714480" y="2500306"/>
            <a:ext cx="9191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8000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3" name="Google Shape;223;p12"/>
          <p:cNvSpPr txBox="1"/>
          <p:nvPr/>
        </p:nvSpPr>
        <p:spPr>
          <a:xfrm>
            <a:off x="2714612" y="2500306"/>
            <a:ext cx="9286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8000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4" name="Google Shape;224;p12"/>
          <p:cNvSpPr txBox="1"/>
          <p:nvPr/>
        </p:nvSpPr>
        <p:spPr>
          <a:xfrm>
            <a:off x="3714744" y="2500306"/>
            <a:ext cx="92869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8000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5" name="Google Shape;225;p12"/>
          <p:cNvSpPr txBox="1"/>
          <p:nvPr/>
        </p:nvSpPr>
        <p:spPr>
          <a:xfrm flipH="1">
            <a:off x="4857752" y="2500306"/>
            <a:ext cx="71438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8000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6" name="Google Shape;226;p12"/>
          <p:cNvSpPr txBox="1"/>
          <p:nvPr/>
        </p:nvSpPr>
        <p:spPr>
          <a:xfrm>
            <a:off x="5715008" y="2500306"/>
            <a:ext cx="1000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8000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7" name="Google Shape;227;p12"/>
          <p:cNvSpPr txBox="1"/>
          <p:nvPr/>
        </p:nvSpPr>
        <p:spPr>
          <a:xfrm>
            <a:off x="6715140" y="2500306"/>
            <a:ext cx="1000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8000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8" name="Google Shape;228;p12"/>
          <p:cNvSpPr txBox="1"/>
          <p:nvPr/>
        </p:nvSpPr>
        <p:spPr>
          <a:xfrm>
            <a:off x="7715272" y="2500306"/>
            <a:ext cx="1000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8000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29" name="Google Shape;229;p12"/>
          <p:cNvSpPr txBox="1"/>
          <p:nvPr/>
        </p:nvSpPr>
        <p:spPr>
          <a:xfrm>
            <a:off x="1643042" y="2857496"/>
            <a:ext cx="1000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16000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0" name="Google Shape;230;p12"/>
          <p:cNvSpPr txBox="1"/>
          <p:nvPr/>
        </p:nvSpPr>
        <p:spPr>
          <a:xfrm>
            <a:off x="2643174" y="2857496"/>
            <a:ext cx="107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16000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1" name="Google Shape;231;p12"/>
          <p:cNvSpPr txBox="1"/>
          <p:nvPr/>
        </p:nvSpPr>
        <p:spPr>
          <a:xfrm>
            <a:off x="3643306" y="2857496"/>
            <a:ext cx="107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16000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2" name="Google Shape;232;p12"/>
          <p:cNvSpPr txBox="1"/>
          <p:nvPr/>
        </p:nvSpPr>
        <p:spPr>
          <a:xfrm>
            <a:off x="4714876" y="2857496"/>
            <a:ext cx="1000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16000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3" name="Google Shape;233;p12"/>
          <p:cNvSpPr txBox="1"/>
          <p:nvPr/>
        </p:nvSpPr>
        <p:spPr>
          <a:xfrm>
            <a:off x="5715008" y="2857496"/>
            <a:ext cx="1000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16000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6643702" y="2857496"/>
            <a:ext cx="10715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16000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5" name="Google Shape;235;p12"/>
          <p:cNvSpPr txBox="1"/>
          <p:nvPr/>
        </p:nvSpPr>
        <p:spPr>
          <a:xfrm>
            <a:off x="7715272" y="2857496"/>
            <a:ext cx="1000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16000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6" name="Google Shape;236;p12"/>
          <p:cNvSpPr txBox="1"/>
          <p:nvPr/>
        </p:nvSpPr>
        <p:spPr>
          <a:xfrm>
            <a:off x="1785918" y="3214686"/>
            <a:ext cx="85725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12000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7" name="Google Shape;237;p12"/>
          <p:cNvSpPr txBox="1"/>
          <p:nvPr/>
        </p:nvSpPr>
        <p:spPr>
          <a:xfrm>
            <a:off x="2714612" y="3214686"/>
            <a:ext cx="600079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12000        12000         12000        12000       12000        12000     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8" name="Google Shape;238;p12"/>
          <p:cNvSpPr txBox="1"/>
          <p:nvPr/>
        </p:nvSpPr>
        <p:spPr>
          <a:xfrm>
            <a:off x="1643042" y="3643314"/>
            <a:ext cx="70723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12000         12000        12000        12000       12000       12000         12000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39" name="Google Shape;239;p12"/>
          <p:cNvSpPr txBox="1"/>
          <p:nvPr/>
        </p:nvSpPr>
        <p:spPr>
          <a:xfrm>
            <a:off x="1643042" y="4000504"/>
            <a:ext cx="70723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1000            1000          1000          1000          1000         1000         1000 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40" name="Google Shape;240;p12"/>
          <p:cNvSpPr txBox="1"/>
          <p:nvPr/>
        </p:nvSpPr>
        <p:spPr>
          <a:xfrm>
            <a:off x="1643042" y="4357694"/>
            <a:ext cx="70723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60000         60000      60000       60000       60000     60000       60000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41" name="Google Shape;241;p12"/>
          <p:cNvSpPr txBox="1"/>
          <p:nvPr/>
        </p:nvSpPr>
        <p:spPr>
          <a:xfrm>
            <a:off x="1643042" y="4714884"/>
            <a:ext cx="707236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20000         20000      20000       20000       20000      20000       20000 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42" name="Google Shape;242;p12"/>
          <p:cNvSpPr txBox="1"/>
          <p:nvPr/>
        </p:nvSpPr>
        <p:spPr>
          <a:xfrm>
            <a:off x="2411760" y="869988"/>
            <a:ext cx="45443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PRESUPUESTO ECONÓMICO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7" name="Google Shape;247;p13"/>
          <p:cNvGraphicFramePr/>
          <p:nvPr/>
        </p:nvGraphicFramePr>
        <p:xfrm>
          <a:off x="1571604" y="136302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{791BDDC4-F6F5-4F02-AAA9-826C7DE0A0E5}</a:tableStyleId>
              </a:tblPr>
              <a:tblGrid>
                <a:gridCol w="1028000"/>
                <a:gridCol w="1028000"/>
                <a:gridCol w="1028000"/>
                <a:gridCol w="1028000"/>
                <a:gridCol w="1028000"/>
                <a:gridCol w="10280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AGO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OCT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NOV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DIC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Ventas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$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MPA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MPB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136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$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GF   $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48" name="Google Shape;248;p13"/>
          <p:cNvSpPr txBox="1"/>
          <p:nvPr/>
        </p:nvSpPr>
        <p:spPr>
          <a:xfrm>
            <a:off x="2547935" y="1773784"/>
            <a:ext cx="31432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4000          4000          4000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49" name="Google Shape;249;p13"/>
          <p:cNvSpPr txBox="1"/>
          <p:nvPr/>
        </p:nvSpPr>
        <p:spPr>
          <a:xfrm>
            <a:off x="5679289" y="1755838"/>
            <a:ext cx="20717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1000           1000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0" name="Google Shape;250;p13"/>
          <p:cNvSpPr txBox="1"/>
          <p:nvPr/>
        </p:nvSpPr>
        <p:spPr>
          <a:xfrm>
            <a:off x="2619373" y="2125170"/>
            <a:ext cx="30718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200000     200000      200000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1" name="Google Shape;251;p13"/>
          <p:cNvSpPr txBox="1"/>
          <p:nvPr/>
        </p:nvSpPr>
        <p:spPr>
          <a:xfrm>
            <a:off x="5691207" y="2125170"/>
            <a:ext cx="20717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50000        50000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2" name="Google Shape;252;p13"/>
          <p:cNvSpPr txBox="1"/>
          <p:nvPr/>
        </p:nvSpPr>
        <p:spPr>
          <a:xfrm>
            <a:off x="2547935" y="2488164"/>
            <a:ext cx="31432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8000         8000          8000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3" name="Google Shape;253;p13"/>
          <p:cNvSpPr txBox="1"/>
          <p:nvPr/>
        </p:nvSpPr>
        <p:spPr>
          <a:xfrm>
            <a:off x="5643570" y="2500306"/>
            <a:ext cx="20717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2000          2000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4" name="Google Shape;254;p13"/>
          <p:cNvSpPr txBox="1"/>
          <p:nvPr/>
        </p:nvSpPr>
        <p:spPr>
          <a:xfrm>
            <a:off x="2536017" y="2835868"/>
            <a:ext cx="31432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16000        16000        16000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5643570" y="2845354"/>
            <a:ext cx="20717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4000         4000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6" name="Google Shape;256;p13"/>
          <p:cNvSpPr txBox="1"/>
          <p:nvPr/>
        </p:nvSpPr>
        <p:spPr>
          <a:xfrm>
            <a:off x="2500298" y="3214686"/>
            <a:ext cx="52149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12000        12000         12000         3000          3000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7" name="Google Shape;257;p13"/>
          <p:cNvSpPr txBox="1"/>
          <p:nvPr/>
        </p:nvSpPr>
        <p:spPr>
          <a:xfrm>
            <a:off x="2500298" y="3604529"/>
            <a:ext cx="52149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12000         12000         12000         3000         3000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8" name="Google Shape;258;p13"/>
          <p:cNvSpPr txBox="1"/>
          <p:nvPr/>
        </p:nvSpPr>
        <p:spPr>
          <a:xfrm>
            <a:off x="2547935" y="3973861"/>
            <a:ext cx="31432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1000            1000          1000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5572132" y="3973861"/>
            <a:ext cx="21431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250            250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2547935" y="4343193"/>
            <a:ext cx="52149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60000        60000        60000       30000       30000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2500298" y="4714884"/>
            <a:ext cx="521497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20000         20000       20000        5000        5000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62" name="Google Shape;262;p13"/>
          <p:cNvSpPr txBox="1"/>
          <p:nvPr/>
        </p:nvSpPr>
        <p:spPr>
          <a:xfrm>
            <a:off x="2411760" y="869988"/>
            <a:ext cx="45443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PRESUPUESTO ECONÓMICO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7" name="Google Shape;267;p14"/>
          <p:cNvGraphicFramePr/>
          <p:nvPr/>
        </p:nvGraphicFramePr>
        <p:xfrm>
          <a:off x="143882" y="2420888"/>
          <a:ext cx="8980487" cy="1728787"/>
        </p:xfrm>
        <a:graphic>
          <a:graphicData uri="http://schemas.openxmlformats.org/presentationml/2006/ole">
            <mc:AlternateContent>
              <mc:Choice Requires="v">
                <p:oleObj r:id="rId4" imgH="1728787" imgW="8980487" progId="Excel.Sheet.12" spid="_x0000_s1">
                  <p:embed/>
                </p:oleObj>
              </mc:Choice>
              <mc:Fallback>
                <p:oleObj r:id="rId5" imgH="1728787" imgW="8980487" progId="Excel.Sheet.12">
                  <p:embed/>
                  <p:pic>
                    <p:nvPicPr>
                      <p:cNvPr id="267" name="Google Shape;267;p14"/>
                      <p:cNvPicPr preferRelativeResize="0"/>
                      <p:nvPr/>
                    </p:nvPicPr>
                    <p:blipFill rotWithShape="1">
                      <a:blip r:embed="rId6">
                        <a:alphaModFix/>
                      </a:blip>
                      <a:srcRect b="0" l="0" r="0" t="0"/>
                      <a:stretch/>
                    </p:blipFill>
                    <p:spPr>
                      <a:xfrm>
                        <a:off x="143882" y="2420888"/>
                        <a:ext cx="8980487" cy="172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8" name="Google Shape;268;p14"/>
          <p:cNvSpPr txBox="1"/>
          <p:nvPr/>
        </p:nvSpPr>
        <p:spPr>
          <a:xfrm>
            <a:off x="2411760" y="869988"/>
            <a:ext cx="454434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PRESUPUESTO ECONÓMICO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3" name="Google Shape;273;p15"/>
          <p:cNvGraphicFramePr/>
          <p:nvPr/>
        </p:nvGraphicFramePr>
        <p:xfrm>
          <a:off x="1331636" y="2708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{791BDDC4-F6F5-4F02-AAA9-826C7DE0A0E5}</a:tableStyleId>
              </a:tblPr>
              <a:tblGrid>
                <a:gridCol w="1419500"/>
                <a:gridCol w="884750"/>
                <a:gridCol w="936100"/>
                <a:gridCol w="864100"/>
                <a:gridCol w="936100"/>
                <a:gridCol w="936100"/>
                <a:gridCol w="936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VENTAS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FEB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JUN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CONTADO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CRÉDITO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TOTAL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74" name="Google Shape;274;p15"/>
          <p:cNvSpPr txBox="1"/>
          <p:nvPr/>
        </p:nvSpPr>
        <p:spPr>
          <a:xfrm>
            <a:off x="3419872" y="1710100"/>
            <a:ext cx="24482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INGRESOS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75" name="Google Shape;275;p15"/>
          <p:cNvSpPr txBox="1"/>
          <p:nvPr/>
        </p:nvSpPr>
        <p:spPr>
          <a:xfrm>
            <a:off x="5490294" y="3068960"/>
            <a:ext cx="27813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40000     40000    40000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76" name="Google Shape;276;p15"/>
          <p:cNvSpPr txBox="1"/>
          <p:nvPr/>
        </p:nvSpPr>
        <p:spPr>
          <a:xfrm>
            <a:off x="5469089" y="3434538"/>
            <a:ext cx="27935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160000    160000    160000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77" name="Google Shape;277;p15"/>
          <p:cNvSpPr txBox="1"/>
          <p:nvPr/>
        </p:nvSpPr>
        <p:spPr>
          <a:xfrm>
            <a:off x="5469089" y="3803870"/>
            <a:ext cx="281828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200000   200000    200000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2027824" y="836712"/>
            <a:ext cx="57424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PRESUPUESTO FINANCIERO</a:t>
            </a:r>
            <a:endParaRPr sz="3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79" name="Google Shape;279;p15"/>
          <p:cNvSpPr txBox="1"/>
          <p:nvPr/>
        </p:nvSpPr>
        <p:spPr>
          <a:xfrm>
            <a:off x="2810814" y="3076019"/>
            <a:ext cx="825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0" name="Google Shape;280;p15"/>
          <p:cNvSpPr txBox="1"/>
          <p:nvPr/>
        </p:nvSpPr>
        <p:spPr>
          <a:xfrm>
            <a:off x="3675976" y="3079324"/>
            <a:ext cx="825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1" name="Google Shape;281;p15"/>
          <p:cNvSpPr txBox="1"/>
          <p:nvPr/>
        </p:nvSpPr>
        <p:spPr>
          <a:xfrm>
            <a:off x="4644008" y="3079324"/>
            <a:ext cx="8250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2742761" y="3478165"/>
            <a:ext cx="9332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150000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3675976" y="3440410"/>
            <a:ext cx="9680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230000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4" name="Google Shape;284;p15"/>
          <p:cNvSpPr txBox="1"/>
          <p:nvPr/>
        </p:nvSpPr>
        <p:spPr>
          <a:xfrm>
            <a:off x="4552493" y="3478165"/>
            <a:ext cx="9378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160000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5" name="Google Shape;285;p15"/>
          <p:cNvSpPr txBox="1"/>
          <p:nvPr/>
        </p:nvSpPr>
        <p:spPr>
          <a:xfrm>
            <a:off x="2761515" y="3835994"/>
            <a:ext cx="9332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190000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3694730" y="3835994"/>
            <a:ext cx="9332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270000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7" name="Google Shape;287;p15"/>
          <p:cNvSpPr txBox="1"/>
          <p:nvPr/>
        </p:nvSpPr>
        <p:spPr>
          <a:xfrm>
            <a:off x="4552493" y="3803870"/>
            <a:ext cx="9332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2" name="Google Shape;292;p16"/>
          <p:cNvGraphicFramePr/>
          <p:nvPr/>
        </p:nvGraphicFramePr>
        <p:xfrm>
          <a:off x="1331636" y="270892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{791BDDC4-F6F5-4F02-AAA9-826C7DE0A0E5}</a:tableStyleId>
              </a:tblPr>
              <a:tblGrid>
                <a:gridCol w="1419500"/>
                <a:gridCol w="884750"/>
                <a:gridCol w="936100"/>
                <a:gridCol w="864100"/>
                <a:gridCol w="936100"/>
                <a:gridCol w="936100"/>
                <a:gridCol w="93610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VENTAS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JUL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AGO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OCT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NOV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DIC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CONTADO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CRÉDITO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TOTAL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293" name="Google Shape;293;p16"/>
          <p:cNvSpPr txBox="1"/>
          <p:nvPr/>
        </p:nvSpPr>
        <p:spPr>
          <a:xfrm>
            <a:off x="3419872" y="1710100"/>
            <a:ext cx="24482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INGRESOS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4" name="Google Shape;294;p16"/>
          <p:cNvSpPr txBox="1"/>
          <p:nvPr/>
        </p:nvSpPr>
        <p:spPr>
          <a:xfrm>
            <a:off x="2027824" y="836712"/>
            <a:ext cx="57424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PRESUPUESTO FINANCIERO</a:t>
            </a:r>
            <a:endParaRPr sz="3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5" name="Google Shape;295;p16"/>
          <p:cNvSpPr txBox="1"/>
          <p:nvPr/>
        </p:nvSpPr>
        <p:spPr>
          <a:xfrm>
            <a:off x="6407516" y="3068960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2697068" y="3438747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160000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7" name="Google Shape;297;p16"/>
          <p:cNvSpPr txBox="1"/>
          <p:nvPr/>
        </p:nvSpPr>
        <p:spPr>
          <a:xfrm>
            <a:off x="2727394" y="3793168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8" name="Google Shape;298;p16"/>
          <p:cNvSpPr txBox="1"/>
          <p:nvPr/>
        </p:nvSpPr>
        <p:spPr>
          <a:xfrm>
            <a:off x="6317835" y="3793168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170000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9" name="Google Shape;299;p16"/>
          <p:cNvSpPr txBox="1"/>
          <p:nvPr/>
        </p:nvSpPr>
        <p:spPr>
          <a:xfrm>
            <a:off x="2717987" y="3065206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00" name="Google Shape;300;p16"/>
          <p:cNvSpPr txBox="1"/>
          <p:nvPr/>
        </p:nvSpPr>
        <p:spPr>
          <a:xfrm>
            <a:off x="3589236" y="3080433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01" name="Google Shape;301;p16"/>
          <p:cNvSpPr txBox="1"/>
          <p:nvPr/>
        </p:nvSpPr>
        <p:spPr>
          <a:xfrm>
            <a:off x="4466318" y="3065206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02" name="Google Shape;302;p16"/>
          <p:cNvSpPr txBox="1"/>
          <p:nvPr/>
        </p:nvSpPr>
        <p:spPr>
          <a:xfrm>
            <a:off x="5427196" y="3068960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40000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03" name="Google Shape;303;p16"/>
          <p:cNvSpPr txBox="1"/>
          <p:nvPr/>
        </p:nvSpPr>
        <p:spPr>
          <a:xfrm>
            <a:off x="7351273" y="3068960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3633172" y="3449765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160000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4554191" y="3433898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160000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5496504" y="3433898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160000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07" name="Google Shape;307;p16"/>
          <p:cNvSpPr txBox="1"/>
          <p:nvPr/>
        </p:nvSpPr>
        <p:spPr>
          <a:xfrm>
            <a:off x="6389843" y="3451379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160000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7337541" y="3438747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160000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09" name="Google Shape;309;p16"/>
          <p:cNvSpPr txBox="1"/>
          <p:nvPr/>
        </p:nvSpPr>
        <p:spPr>
          <a:xfrm>
            <a:off x="4569276" y="3803230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10" name="Google Shape;310;p16"/>
          <p:cNvSpPr txBox="1"/>
          <p:nvPr/>
        </p:nvSpPr>
        <p:spPr>
          <a:xfrm>
            <a:off x="5515069" y="3803230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11" name="Google Shape;311;p16"/>
          <p:cNvSpPr txBox="1"/>
          <p:nvPr/>
        </p:nvSpPr>
        <p:spPr>
          <a:xfrm>
            <a:off x="3652433" y="3803230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12" name="Google Shape;312;p16"/>
          <p:cNvSpPr txBox="1"/>
          <p:nvPr/>
        </p:nvSpPr>
        <p:spPr>
          <a:xfrm>
            <a:off x="7325947" y="3808079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170000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7" name="Google Shape;317;p17"/>
          <p:cNvGraphicFramePr/>
          <p:nvPr/>
        </p:nvGraphicFramePr>
        <p:xfrm>
          <a:off x="714344" y="139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{791BDDC4-F6F5-4F02-AAA9-826C7DE0A0E5}</a:tableStyleId>
              </a:tblPr>
              <a:tblGrid>
                <a:gridCol w="982275"/>
                <a:gridCol w="982275"/>
                <a:gridCol w="982275"/>
                <a:gridCol w="982275"/>
                <a:gridCol w="982275"/>
                <a:gridCol w="982275"/>
                <a:gridCol w="982275"/>
                <a:gridCol w="9822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FEB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JUN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JUL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 Oper.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 Com.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 Fin.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 Banc.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Imp.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Divid.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Totales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18" name="Google Shape;318;p17"/>
          <p:cNvSpPr txBox="1"/>
          <p:nvPr/>
        </p:nvSpPr>
        <p:spPr>
          <a:xfrm>
            <a:off x="1643042" y="1714488"/>
            <a:ext cx="1000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24000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19" name="Google Shape;319;p17"/>
          <p:cNvSpPr txBox="1"/>
          <p:nvPr/>
        </p:nvSpPr>
        <p:spPr>
          <a:xfrm>
            <a:off x="2714612" y="1785926"/>
            <a:ext cx="58579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28000       28000       28000       28000     28000       28000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20" name="Google Shape;320;p17"/>
          <p:cNvSpPr txBox="1"/>
          <p:nvPr/>
        </p:nvSpPr>
        <p:spPr>
          <a:xfrm>
            <a:off x="1714480" y="2143116"/>
            <a:ext cx="6858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60000       60000       60000      60000      60000      60000       60000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21" name="Google Shape;321;p17"/>
          <p:cNvSpPr txBox="1"/>
          <p:nvPr/>
        </p:nvSpPr>
        <p:spPr>
          <a:xfrm>
            <a:off x="1714480" y="2500306"/>
            <a:ext cx="6858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20000        20000      20000      20000       20000       20000      20000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22" name="Google Shape;322;p17"/>
          <p:cNvSpPr txBox="1"/>
          <p:nvPr/>
        </p:nvSpPr>
        <p:spPr>
          <a:xfrm>
            <a:off x="1714480" y="2857496"/>
            <a:ext cx="6858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14300        14300        14300        14300       14300       14300       14300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23" name="Google Shape;323;p17"/>
          <p:cNvSpPr txBox="1"/>
          <p:nvPr/>
        </p:nvSpPr>
        <p:spPr>
          <a:xfrm>
            <a:off x="1714480" y="3214686"/>
            <a:ext cx="200026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7500        10000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24" name="Google Shape;324;p17"/>
          <p:cNvSpPr txBox="1"/>
          <p:nvPr/>
        </p:nvSpPr>
        <p:spPr>
          <a:xfrm>
            <a:off x="3643306" y="3214686"/>
            <a:ext cx="4929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2000         2000         2000        2000        2000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25" name="Google Shape;325;p17"/>
          <p:cNvSpPr txBox="1"/>
          <p:nvPr/>
        </p:nvSpPr>
        <p:spPr>
          <a:xfrm>
            <a:off x="1714480" y="3571876"/>
            <a:ext cx="6858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3000         3000         3000          3000         3000         3000        3000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26" name="Google Shape;326;p17"/>
          <p:cNvSpPr txBox="1"/>
          <p:nvPr/>
        </p:nvSpPr>
        <p:spPr>
          <a:xfrm>
            <a:off x="1714480" y="4000504"/>
            <a:ext cx="68580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4000        4000        4000          4000        4000         4000       4000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27" name="Google Shape;327;p17"/>
          <p:cNvSpPr txBox="1"/>
          <p:nvPr/>
        </p:nvSpPr>
        <p:spPr>
          <a:xfrm>
            <a:off x="2714612" y="4357694"/>
            <a:ext cx="1000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28" name="Google Shape;328;p17"/>
          <p:cNvSpPr txBox="1"/>
          <p:nvPr/>
        </p:nvSpPr>
        <p:spPr>
          <a:xfrm>
            <a:off x="3491880" y="4714884"/>
            <a:ext cx="11515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350000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29" name="Google Shape;329;p17"/>
          <p:cNvSpPr txBox="1"/>
          <p:nvPr/>
        </p:nvSpPr>
        <p:spPr>
          <a:xfrm>
            <a:off x="1643042" y="5072074"/>
            <a:ext cx="69294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132800     139300     481300      161300        131300      131300      131300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30" name="Google Shape;330;p17"/>
          <p:cNvSpPr txBox="1"/>
          <p:nvPr/>
        </p:nvSpPr>
        <p:spPr>
          <a:xfrm>
            <a:off x="3178959" y="889097"/>
            <a:ext cx="29289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        </a:t>
            </a: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EGRESOS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31" name="Google Shape;331;p17"/>
          <p:cNvSpPr txBox="1"/>
          <p:nvPr/>
        </p:nvSpPr>
        <p:spPr>
          <a:xfrm>
            <a:off x="4698916" y="4369836"/>
            <a:ext cx="94465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30000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32" name="Google Shape;332;p17"/>
          <p:cNvSpPr txBox="1"/>
          <p:nvPr/>
        </p:nvSpPr>
        <p:spPr>
          <a:xfrm>
            <a:off x="2051720" y="304322"/>
            <a:ext cx="57424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PRESUPUESTO FINANCIERO</a:t>
            </a:r>
            <a:endParaRPr sz="3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7" name="Google Shape;337;p18"/>
          <p:cNvGraphicFramePr/>
          <p:nvPr/>
        </p:nvGraphicFramePr>
        <p:xfrm>
          <a:off x="857224" y="13970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{791BDDC4-F6F5-4F02-AAA9-826C7DE0A0E5}</a:tableStyleId>
              </a:tblPr>
              <a:tblGrid>
                <a:gridCol w="983350"/>
                <a:gridCol w="983350"/>
                <a:gridCol w="983350"/>
                <a:gridCol w="983350"/>
                <a:gridCol w="983350"/>
                <a:gridCol w="983350"/>
                <a:gridCol w="983350"/>
                <a:gridCol w="983350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AGO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OCT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NOV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DIC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ENE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FEB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GF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 </a:t>
                      </a:r>
                      <a:r>
                        <a:rPr lang="en-US" sz="1800"/>
                        <a:t> Oper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 Com.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 Fin.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 Banc.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Imp.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Maquin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 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Totales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338" name="Google Shape;338;p18"/>
          <p:cNvSpPr txBox="1"/>
          <p:nvPr/>
        </p:nvSpPr>
        <p:spPr>
          <a:xfrm>
            <a:off x="5786446" y="650083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39" name="Google Shape;339;p18"/>
          <p:cNvSpPr txBox="1"/>
          <p:nvPr/>
        </p:nvSpPr>
        <p:spPr>
          <a:xfrm>
            <a:off x="3643306" y="857232"/>
            <a:ext cx="20717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   </a:t>
            </a: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EGRESOS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40" name="Google Shape;340;p18"/>
          <p:cNvSpPr txBox="1"/>
          <p:nvPr/>
        </p:nvSpPr>
        <p:spPr>
          <a:xfrm>
            <a:off x="1857356" y="1714488"/>
            <a:ext cx="392909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28000       28000        28000      28000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41" name="Google Shape;341;p18"/>
          <p:cNvSpPr txBox="1"/>
          <p:nvPr/>
        </p:nvSpPr>
        <p:spPr>
          <a:xfrm>
            <a:off x="5786446" y="1714488"/>
            <a:ext cx="19288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7000        7000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42" name="Google Shape;342;p18"/>
          <p:cNvSpPr txBox="1"/>
          <p:nvPr/>
        </p:nvSpPr>
        <p:spPr>
          <a:xfrm>
            <a:off x="1857356" y="2143116"/>
            <a:ext cx="4929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60000       60000       60000      30000        30000    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43" name="Google Shape;343;p18"/>
          <p:cNvSpPr txBox="1"/>
          <p:nvPr/>
        </p:nvSpPr>
        <p:spPr>
          <a:xfrm>
            <a:off x="1857356" y="2500306"/>
            <a:ext cx="4929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20000        20000       20000       5000         5000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44" name="Google Shape;344;p18"/>
          <p:cNvSpPr txBox="1"/>
          <p:nvPr/>
        </p:nvSpPr>
        <p:spPr>
          <a:xfrm>
            <a:off x="1857356" y="2857496"/>
            <a:ext cx="4929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14300        14300         14300      14300        14300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45" name="Google Shape;345;p18"/>
          <p:cNvSpPr txBox="1"/>
          <p:nvPr/>
        </p:nvSpPr>
        <p:spPr>
          <a:xfrm>
            <a:off x="1857356" y="3214686"/>
            <a:ext cx="4929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2000        2000          2000        2000        2000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46" name="Google Shape;346;p18"/>
          <p:cNvSpPr txBox="1"/>
          <p:nvPr/>
        </p:nvSpPr>
        <p:spPr>
          <a:xfrm>
            <a:off x="6786578" y="3214686"/>
            <a:ext cx="192882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500          500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47" name="Google Shape;347;p18"/>
          <p:cNvSpPr txBox="1"/>
          <p:nvPr/>
        </p:nvSpPr>
        <p:spPr>
          <a:xfrm>
            <a:off x="1785918" y="3571876"/>
            <a:ext cx="50006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  3000         3000         3000        3000         3000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48" name="Google Shape;348;p18"/>
          <p:cNvSpPr txBox="1"/>
          <p:nvPr/>
        </p:nvSpPr>
        <p:spPr>
          <a:xfrm>
            <a:off x="1857356" y="3929066"/>
            <a:ext cx="49292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4000         4000         4000        4000        4000  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49" name="Google Shape;349;p18"/>
          <p:cNvSpPr txBox="1"/>
          <p:nvPr/>
        </p:nvSpPr>
        <p:spPr>
          <a:xfrm>
            <a:off x="1785918" y="5098694"/>
            <a:ext cx="692948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131300       381300        131300       86300      65300            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50" name="Google Shape;350;p18"/>
          <p:cNvSpPr txBox="1"/>
          <p:nvPr/>
        </p:nvSpPr>
        <p:spPr>
          <a:xfrm>
            <a:off x="2878554" y="4360030"/>
            <a:ext cx="966123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50000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51" name="Google Shape;351;p18"/>
          <p:cNvSpPr txBox="1"/>
          <p:nvPr/>
        </p:nvSpPr>
        <p:spPr>
          <a:xfrm>
            <a:off x="2878554" y="4729362"/>
            <a:ext cx="94334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52" name="Google Shape;352;p18"/>
          <p:cNvSpPr txBox="1"/>
          <p:nvPr/>
        </p:nvSpPr>
        <p:spPr>
          <a:xfrm>
            <a:off x="2051720" y="304322"/>
            <a:ext cx="57424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PRESUPUESTO FINANCIERO</a:t>
            </a:r>
            <a:endParaRPr sz="3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7" name="Google Shape;357;p19"/>
          <p:cNvGraphicFramePr/>
          <p:nvPr/>
        </p:nvGraphicFramePr>
        <p:xfrm>
          <a:off x="827584" y="2420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{791BDDC4-F6F5-4F02-AAA9-826C7DE0A0E5}</a:tableStyleId>
              </a:tblPr>
              <a:tblGrid>
                <a:gridCol w="1152125"/>
                <a:gridCol w="987550"/>
                <a:gridCol w="1069825"/>
                <a:gridCol w="1069825"/>
                <a:gridCol w="1069825"/>
                <a:gridCol w="1069825"/>
                <a:gridCol w="1069825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Constantia"/>
                        <a:buNone/>
                      </a:pPr>
                      <a:r>
                        <a:rPr lang="en-US" sz="1800"/>
                        <a:t>ENE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FEB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ABR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MAY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JUN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Sdo.</a:t>
                      </a:r>
                      <a:r>
                        <a:rPr lang="en-US" sz="1800"/>
                        <a:t> Ant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Ingresos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chemeClr val="dk1"/>
                          </a:solidFill>
                        </a:rPr>
                        <a:t>Egresos</a:t>
                      </a:r>
                      <a:endParaRPr sz="1800">
                        <a:solidFill>
                          <a:schemeClr val="dk1"/>
                        </a:solidFill>
                      </a:endParaRPr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Sdo.Final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58" name="Google Shape;358;p19"/>
          <p:cNvSpPr txBox="1"/>
          <p:nvPr/>
        </p:nvSpPr>
        <p:spPr>
          <a:xfrm>
            <a:off x="1636294" y="1549356"/>
            <a:ext cx="5890406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FLUJO DE CAJA</a:t>
            </a:r>
            <a:endParaRPr sz="2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59" name="Google Shape;359;p19"/>
          <p:cNvSpPr txBox="1"/>
          <p:nvPr/>
        </p:nvSpPr>
        <p:spPr>
          <a:xfrm>
            <a:off x="1710274" y="764704"/>
            <a:ext cx="57424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PRESUPUESTO FINANCIERO</a:t>
            </a:r>
            <a:endParaRPr sz="3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60" name="Google Shape;360;p19"/>
          <p:cNvSpPr txBox="1"/>
          <p:nvPr/>
        </p:nvSpPr>
        <p:spPr>
          <a:xfrm>
            <a:off x="1979712" y="2996952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604000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61" name="Google Shape;361;p19"/>
          <p:cNvSpPr txBox="1"/>
          <p:nvPr/>
        </p:nvSpPr>
        <p:spPr>
          <a:xfrm>
            <a:off x="3073186" y="2996952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661200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62" name="Google Shape;362;p19"/>
          <p:cNvSpPr txBox="1"/>
          <p:nvPr/>
        </p:nvSpPr>
        <p:spPr>
          <a:xfrm>
            <a:off x="4172318" y="2991212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791900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63" name="Google Shape;363;p19"/>
          <p:cNvSpPr txBox="1"/>
          <p:nvPr/>
        </p:nvSpPr>
        <p:spPr>
          <a:xfrm>
            <a:off x="5231372" y="2991212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510600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64" name="Google Shape;364;p19"/>
          <p:cNvSpPr txBox="1"/>
          <p:nvPr/>
        </p:nvSpPr>
        <p:spPr>
          <a:xfrm>
            <a:off x="6206180" y="3007116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549300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65" name="Google Shape;365;p19"/>
          <p:cNvSpPr txBox="1"/>
          <p:nvPr/>
        </p:nvSpPr>
        <p:spPr>
          <a:xfrm>
            <a:off x="7191771" y="3007116"/>
            <a:ext cx="1152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618000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66" name="Google Shape;366;p19"/>
          <p:cNvSpPr txBox="1"/>
          <p:nvPr/>
        </p:nvSpPr>
        <p:spPr>
          <a:xfrm>
            <a:off x="2015367" y="3578756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190000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67" name="Google Shape;367;p19"/>
          <p:cNvSpPr txBox="1"/>
          <p:nvPr/>
        </p:nvSpPr>
        <p:spPr>
          <a:xfrm>
            <a:off x="3108841" y="3578756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270000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68" name="Google Shape;368;p19"/>
          <p:cNvSpPr txBox="1"/>
          <p:nvPr/>
        </p:nvSpPr>
        <p:spPr>
          <a:xfrm>
            <a:off x="4207973" y="3573016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69" name="Google Shape;369;p19"/>
          <p:cNvSpPr txBox="1"/>
          <p:nvPr/>
        </p:nvSpPr>
        <p:spPr>
          <a:xfrm>
            <a:off x="5267027" y="3573016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70" name="Google Shape;370;p19"/>
          <p:cNvSpPr txBox="1"/>
          <p:nvPr/>
        </p:nvSpPr>
        <p:spPr>
          <a:xfrm>
            <a:off x="6241835" y="3588920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71" name="Google Shape;371;p19"/>
          <p:cNvSpPr txBox="1"/>
          <p:nvPr/>
        </p:nvSpPr>
        <p:spPr>
          <a:xfrm>
            <a:off x="7227426" y="3588920"/>
            <a:ext cx="1152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72" name="Google Shape;372;p19"/>
          <p:cNvSpPr txBox="1"/>
          <p:nvPr/>
        </p:nvSpPr>
        <p:spPr>
          <a:xfrm>
            <a:off x="1941008" y="4642972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661200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73" name="Google Shape;373;p19"/>
          <p:cNvSpPr txBox="1"/>
          <p:nvPr/>
        </p:nvSpPr>
        <p:spPr>
          <a:xfrm>
            <a:off x="3034482" y="4642972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791900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74" name="Google Shape;374;p19"/>
          <p:cNvSpPr txBox="1"/>
          <p:nvPr/>
        </p:nvSpPr>
        <p:spPr>
          <a:xfrm>
            <a:off x="4133614" y="4637232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510600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75" name="Google Shape;375;p19"/>
          <p:cNvSpPr txBox="1"/>
          <p:nvPr/>
        </p:nvSpPr>
        <p:spPr>
          <a:xfrm>
            <a:off x="5192668" y="4637232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549300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76" name="Google Shape;376;p19"/>
          <p:cNvSpPr txBox="1"/>
          <p:nvPr/>
        </p:nvSpPr>
        <p:spPr>
          <a:xfrm>
            <a:off x="6167476" y="4653136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618000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77" name="Google Shape;377;p19"/>
          <p:cNvSpPr txBox="1"/>
          <p:nvPr/>
        </p:nvSpPr>
        <p:spPr>
          <a:xfrm>
            <a:off x="7211561" y="4642972"/>
            <a:ext cx="1152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686700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78" name="Google Shape;378;p19"/>
          <p:cNvSpPr txBox="1"/>
          <p:nvPr/>
        </p:nvSpPr>
        <p:spPr>
          <a:xfrm>
            <a:off x="2015367" y="4107865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132800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79" name="Google Shape;379;p19"/>
          <p:cNvSpPr txBox="1"/>
          <p:nvPr/>
        </p:nvSpPr>
        <p:spPr>
          <a:xfrm>
            <a:off x="3108841" y="4107865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139300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80" name="Google Shape;380;p19"/>
          <p:cNvSpPr txBox="1"/>
          <p:nvPr/>
        </p:nvSpPr>
        <p:spPr>
          <a:xfrm>
            <a:off x="4207973" y="4102125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481300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81" name="Google Shape;381;p19"/>
          <p:cNvSpPr txBox="1"/>
          <p:nvPr/>
        </p:nvSpPr>
        <p:spPr>
          <a:xfrm>
            <a:off x="5267027" y="4102125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161300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82" name="Google Shape;382;p19"/>
          <p:cNvSpPr txBox="1"/>
          <p:nvPr/>
        </p:nvSpPr>
        <p:spPr>
          <a:xfrm>
            <a:off x="6241835" y="4118029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131300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83" name="Google Shape;383;p19"/>
          <p:cNvSpPr txBox="1"/>
          <p:nvPr/>
        </p:nvSpPr>
        <p:spPr>
          <a:xfrm>
            <a:off x="7227426" y="4118029"/>
            <a:ext cx="1152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131300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88" name="Google Shape;388;p20"/>
          <p:cNvGraphicFramePr/>
          <p:nvPr/>
        </p:nvGraphicFramePr>
        <p:xfrm>
          <a:off x="832522" y="242088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{791BDDC4-F6F5-4F02-AAA9-826C7DE0A0E5}</a:tableStyleId>
              </a:tblPr>
              <a:tblGrid>
                <a:gridCol w="1142250"/>
                <a:gridCol w="1035750"/>
                <a:gridCol w="1089000"/>
                <a:gridCol w="1089000"/>
                <a:gridCol w="1089000"/>
                <a:gridCol w="1089000"/>
                <a:gridCol w="1089000"/>
              </a:tblGrid>
              <a:tr h="5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JUL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AGO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SEP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OCT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NOV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DIC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Sdo.</a:t>
                      </a:r>
                      <a:r>
                        <a:rPr lang="en-US" sz="1800"/>
                        <a:t> Ant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Ingresos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Egresos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  <a:tr h="54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Sdo.Final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sp>
        <p:nvSpPr>
          <p:cNvPr id="389" name="Google Shape;389;p20"/>
          <p:cNvSpPr txBox="1"/>
          <p:nvPr/>
        </p:nvSpPr>
        <p:spPr>
          <a:xfrm>
            <a:off x="2699792" y="1545136"/>
            <a:ext cx="3888432" cy="5232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FLUJO DE CAJA</a:t>
            </a:r>
            <a:endParaRPr sz="2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90" name="Google Shape;390;p20"/>
          <p:cNvSpPr txBox="1"/>
          <p:nvPr/>
        </p:nvSpPr>
        <p:spPr>
          <a:xfrm>
            <a:off x="1710274" y="764704"/>
            <a:ext cx="57424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PRESUPUESTO FINANCIERO</a:t>
            </a:r>
            <a:endParaRPr sz="32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91" name="Google Shape;391;p20"/>
          <p:cNvSpPr txBox="1"/>
          <p:nvPr/>
        </p:nvSpPr>
        <p:spPr>
          <a:xfrm>
            <a:off x="1979712" y="3061088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686700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92" name="Google Shape;392;p20"/>
          <p:cNvSpPr txBox="1"/>
          <p:nvPr/>
        </p:nvSpPr>
        <p:spPr>
          <a:xfrm>
            <a:off x="4175956" y="3068960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824100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93" name="Google Shape;393;p20"/>
          <p:cNvSpPr txBox="1"/>
          <p:nvPr/>
        </p:nvSpPr>
        <p:spPr>
          <a:xfrm>
            <a:off x="5309081" y="3068960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642800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94" name="Google Shape;394;p20"/>
          <p:cNvSpPr txBox="1"/>
          <p:nvPr/>
        </p:nvSpPr>
        <p:spPr>
          <a:xfrm>
            <a:off x="6313684" y="3068960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711500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95" name="Google Shape;395;p20"/>
          <p:cNvSpPr txBox="1"/>
          <p:nvPr/>
        </p:nvSpPr>
        <p:spPr>
          <a:xfrm>
            <a:off x="7381946" y="3068960"/>
            <a:ext cx="1152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795200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96" name="Google Shape;396;p20"/>
          <p:cNvSpPr txBox="1"/>
          <p:nvPr/>
        </p:nvSpPr>
        <p:spPr>
          <a:xfrm>
            <a:off x="3099335" y="3068960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755400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97" name="Google Shape;397;p20"/>
          <p:cNvSpPr txBox="1"/>
          <p:nvPr/>
        </p:nvSpPr>
        <p:spPr>
          <a:xfrm>
            <a:off x="2040042" y="3573016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98" name="Google Shape;398;p20"/>
          <p:cNvSpPr txBox="1"/>
          <p:nvPr/>
        </p:nvSpPr>
        <p:spPr>
          <a:xfrm>
            <a:off x="3133017" y="3573016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99" name="Google Shape;399;p20"/>
          <p:cNvSpPr txBox="1"/>
          <p:nvPr/>
        </p:nvSpPr>
        <p:spPr>
          <a:xfrm>
            <a:off x="4194371" y="3573016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00" name="Google Shape;400;p20"/>
          <p:cNvSpPr txBox="1"/>
          <p:nvPr/>
        </p:nvSpPr>
        <p:spPr>
          <a:xfrm>
            <a:off x="5289707" y="3573016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200000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01" name="Google Shape;401;p20"/>
          <p:cNvSpPr txBox="1"/>
          <p:nvPr/>
        </p:nvSpPr>
        <p:spPr>
          <a:xfrm>
            <a:off x="6313684" y="3573016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170000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02" name="Google Shape;402;p20"/>
          <p:cNvSpPr txBox="1"/>
          <p:nvPr/>
        </p:nvSpPr>
        <p:spPr>
          <a:xfrm>
            <a:off x="7380312" y="3573016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170000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03" name="Google Shape;403;p20"/>
          <p:cNvSpPr txBox="1"/>
          <p:nvPr/>
        </p:nvSpPr>
        <p:spPr>
          <a:xfrm>
            <a:off x="2004347" y="4149080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131300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04" name="Google Shape;404;p20"/>
          <p:cNvSpPr txBox="1"/>
          <p:nvPr/>
        </p:nvSpPr>
        <p:spPr>
          <a:xfrm>
            <a:off x="4183333" y="4141208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381300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05" name="Google Shape;405;p20"/>
          <p:cNvSpPr txBox="1"/>
          <p:nvPr/>
        </p:nvSpPr>
        <p:spPr>
          <a:xfrm>
            <a:off x="5316458" y="4141208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131300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06" name="Google Shape;406;p20"/>
          <p:cNvSpPr txBox="1"/>
          <p:nvPr/>
        </p:nvSpPr>
        <p:spPr>
          <a:xfrm>
            <a:off x="6361876" y="4150774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86300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07" name="Google Shape;407;p20"/>
          <p:cNvSpPr txBox="1"/>
          <p:nvPr/>
        </p:nvSpPr>
        <p:spPr>
          <a:xfrm>
            <a:off x="7320421" y="4141208"/>
            <a:ext cx="1152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65300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08" name="Google Shape;408;p20"/>
          <p:cNvSpPr txBox="1"/>
          <p:nvPr/>
        </p:nvSpPr>
        <p:spPr>
          <a:xfrm>
            <a:off x="3047018" y="4141208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Constantia"/>
                <a:ea typeface="Constantia"/>
                <a:cs typeface="Constantia"/>
                <a:sym typeface="Constantia"/>
              </a:rPr>
              <a:t>131300</a:t>
            </a:r>
            <a:endParaRPr sz="1800">
              <a:solidFill>
                <a:srgbClr val="FF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09" name="Google Shape;409;p20"/>
          <p:cNvSpPr txBox="1"/>
          <p:nvPr/>
        </p:nvSpPr>
        <p:spPr>
          <a:xfrm>
            <a:off x="2044307" y="4699066"/>
            <a:ext cx="1023977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755400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10" name="Google Shape;410;p20"/>
          <p:cNvSpPr txBox="1"/>
          <p:nvPr/>
        </p:nvSpPr>
        <p:spPr>
          <a:xfrm>
            <a:off x="4146331" y="4702564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642800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11" name="Google Shape;411;p20"/>
          <p:cNvSpPr txBox="1"/>
          <p:nvPr/>
        </p:nvSpPr>
        <p:spPr>
          <a:xfrm>
            <a:off x="5289707" y="4699066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711500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12" name="Google Shape;412;p20"/>
          <p:cNvSpPr txBox="1"/>
          <p:nvPr/>
        </p:nvSpPr>
        <p:spPr>
          <a:xfrm>
            <a:off x="6348123" y="4699066"/>
            <a:ext cx="10801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795200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13" name="Google Shape;413;p20"/>
          <p:cNvSpPr txBox="1"/>
          <p:nvPr/>
        </p:nvSpPr>
        <p:spPr>
          <a:xfrm>
            <a:off x="7320421" y="4699066"/>
            <a:ext cx="11521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899900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14" name="Google Shape;414;p20"/>
          <p:cNvSpPr txBox="1"/>
          <p:nvPr/>
        </p:nvSpPr>
        <p:spPr>
          <a:xfrm>
            <a:off x="3003689" y="4699066"/>
            <a:ext cx="9361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824100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21"/>
          <p:cNvSpPr txBox="1"/>
          <p:nvPr>
            <p:ph type="title"/>
          </p:nvPr>
        </p:nvSpPr>
        <p:spPr>
          <a:xfrm>
            <a:off x="457200" y="928670"/>
            <a:ext cx="8229600" cy="64294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lang="en-US" sz="2800"/>
              <a:t>ESTADO DE RESULTADOS PROYECTADO</a:t>
            </a:r>
            <a:endParaRPr sz="2800"/>
          </a:p>
        </p:txBody>
      </p:sp>
      <p:sp>
        <p:nvSpPr>
          <p:cNvPr id="420" name="Google Shape;420;p21"/>
          <p:cNvSpPr txBox="1"/>
          <p:nvPr>
            <p:ph idx="1" type="body"/>
          </p:nvPr>
        </p:nvSpPr>
        <p:spPr>
          <a:xfrm>
            <a:off x="457200" y="1882808"/>
            <a:ext cx="41148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Ventas                    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Costo de Ventas   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Utilidad Bruta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Gs. Operativos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Gs. Comerc.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Gs. Financ.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Utilidad Operativa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Imp. Ganancias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Resultado del Ejerc.</a:t>
            </a:r>
            <a:endParaRPr/>
          </a:p>
        </p:txBody>
      </p:sp>
      <p:sp>
        <p:nvSpPr>
          <p:cNvPr id="421" name="Google Shape;421;p21"/>
          <p:cNvSpPr txBox="1"/>
          <p:nvPr/>
        </p:nvSpPr>
        <p:spPr>
          <a:xfrm>
            <a:off x="4716016" y="1857364"/>
            <a:ext cx="2142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  </a:t>
            </a:r>
            <a:r>
              <a:rPr lang="en-US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2.100.000</a:t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2" name="Google Shape;422;p21"/>
          <p:cNvSpPr txBox="1"/>
          <p:nvPr/>
        </p:nvSpPr>
        <p:spPr>
          <a:xfrm>
            <a:off x="4788024" y="2357430"/>
            <a:ext cx="21414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(1.164.000)</a:t>
            </a:r>
            <a:endParaRPr sz="2400" u="sng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3" name="Google Shape;423;p21"/>
          <p:cNvSpPr txBox="1"/>
          <p:nvPr/>
        </p:nvSpPr>
        <p:spPr>
          <a:xfrm>
            <a:off x="4788024" y="2786058"/>
            <a:ext cx="199855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 936.000</a:t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4" name="Google Shape;424;p21"/>
          <p:cNvSpPr txBox="1"/>
          <p:nvPr/>
        </p:nvSpPr>
        <p:spPr>
          <a:xfrm>
            <a:off x="4716016" y="3214686"/>
            <a:ext cx="244827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( 276.600)</a:t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5" name="Google Shape;425;p21"/>
          <p:cNvSpPr txBox="1"/>
          <p:nvPr/>
        </p:nvSpPr>
        <p:spPr>
          <a:xfrm>
            <a:off x="4716016" y="3643314"/>
            <a:ext cx="207056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(   21.000)</a:t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6" name="Google Shape;426;p21"/>
          <p:cNvSpPr txBox="1"/>
          <p:nvPr/>
        </p:nvSpPr>
        <p:spPr>
          <a:xfrm>
            <a:off x="4716016" y="4143380"/>
            <a:ext cx="221343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(   36.000)</a:t>
            </a:r>
            <a:endParaRPr sz="2400" u="sng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7" name="Google Shape;427;p21"/>
          <p:cNvSpPr txBox="1"/>
          <p:nvPr/>
        </p:nvSpPr>
        <p:spPr>
          <a:xfrm>
            <a:off x="5000628" y="4643446"/>
            <a:ext cx="20002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602.400</a:t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8" name="Google Shape;428;p21"/>
          <p:cNvSpPr txBox="1"/>
          <p:nvPr/>
        </p:nvSpPr>
        <p:spPr>
          <a:xfrm>
            <a:off x="4788024" y="5072074"/>
            <a:ext cx="20699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u="sng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(  125.000)</a:t>
            </a:r>
            <a:endParaRPr sz="2400" u="sng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29" name="Google Shape;429;p21"/>
          <p:cNvSpPr txBox="1"/>
          <p:nvPr/>
        </p:nvSpPr>
        <p:spPr>
          <a:xfrm>
            <a:off x="4929190" y="5572140"/>
            <a:ext cx="200026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477.400</a:t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2"/>
          <p:cNvSpPr txBox="1"/>
          <p:nvPr>
            <p:ph type="title"/>
          </p:nvPr>
        </p:nvSpPr>
        <p:spPr>
          <a:xfrm>
            <a:off x="457200" y="142852"/>
            <a:ext cx="8229600" cy="7143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/>
              <a:t>BALANCE GENERAL PROYECTADO</a:t>
            </a:r>
            <a:endParaRPr sz="3200"/>
          </a:p>
        </p:txBody>
      </p:sp>
      <p:sp>
        <p:nvSpPr>
          <p:cNvPr id="435" name="Google Shape;435;p22"/>
          <p:cNvSpPr txBox="1"/>
          <p:nvPr>
            <p:ph idx="1" type="body"/>
          </p:nvPr>
        </p:nvSpPr>
        <p:spPr>
          <a:xfrm>
            <a:off x="457200" y="785794"/>
            <a:ext cx="6347048" cy="60722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b="1" lang="en-US"/>
              <a:t>ACTIVO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b="1" sz="24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rPr b="1" lang="en-US" sz="2400"/>
              <a:t>Activo Corriente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rPr i="1" lang="en-US" sz="2400"/>
              <a:t>Caja y Bancos                     899.900       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rPr i="1" lang="en-US" sz="2400"/>
              <a:t>Bienes de Cambio               140.500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rPr i="1" lang="en-US" sz="2400"/>
              <a:t>Créditos                                80.000  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i="1" sz="24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b="1" sz="2400"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rPr b="1" lang="en-US" sz="2400"/>
              <a:t>Activo no Corriente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rPr i="1" lang="en-US" sz="2400"/>
              <a:t>Bienes de Uso                      945.000</a:t>
            </a:r>
            <a:endParaRPr/>
          </a:p>
          <a:p>
            <a:pPr indent="-274320" lvl="0" marL="274320" rtl="0" algn="l">
              <a:spcBef>
                <a:spcPts val="480"/>
              </a:spcBef>
              <a:spcAft>
                <a:spcPts val="0"/>
              </a:spcAft>
              <a:buSzPts val="2280"/>
              <a:buNone/>
            </a:pPr>
            <a:r>
              <a:t/>
            </a:r>
            <a:endParaRPr i="1" sz="2400"/>
          </a:p>
        </p:txBody>
      </p:sp>
      <p:sp>
        <p:nvSpPr>
          <p:cNvPr id="436" name="Google Shape;436;p22"/>
          <p:cNvSpPr txBox="1"/>
          <p:nvPr/>
        </p:nvSpPr>
        <p:spPr>
          <a:xfrm>
            <a:off x="4891476" y="1857364"/>
            <a:ext cx="2323730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1.120.400</a:t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7" name="Google Shape;437;p22"/>
          <p:cNvSpPr txBox="1"/>
          <p:nvPr/>
        </p:nvSpPr>
        <p:spPr>
          <a:xfrm>
            <a:off x="5143504" y="4071942"/>
            <a:ext cx="214314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945.000</a:t>
            </a:r>
            <a:endParaRPr sz="24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38" name="Google Shape;438;p22"/>
          <p:cNvSpPr txBox="1"/>
          <p:nvPr/>
        </p:nvSpPr>
        <p:spPr>
          <a:xfrm>
            <a:off x="6372200" y="1285860"/>
            <a:ext cx="27718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   </a:t>
            </a:r>
            <a:r>
              <a:rPr lang="en-US" sz="2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2.065.400</a:t>
            </a:r>
            <a:endParaRPr sz="28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23"/>
          <p:cNvSpPr txBox="1"/>
          <p:nvPr>
            <p:ph type="title"/>
          </p:nvPr>
        </p:nvSpPr>
        <p:spPr>
          <a:xfrm>
            <a:off x="457200" y="0"/>
            <a:ext cx="8229600" cy="7143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alibri"/>
              <a:buNone/>
            </a:pPr>
            <a:r>
              <a:rPr lang="en-US" sz="3200"/>
              <a:t>BALANCE GENERAL PROYECTADO</a:t>
            </a:r>
            <a:endParaRPr sz="3200"/>
          </a:p>
        </p:txBody>
      </p:sp>
      <p:sp>
        <p:nvSpPr>
          <p:cNvPr id="444" name="Google Shape;444;p23"/>
          <p:cNvSpPr txBox="1"/>
          <p:nvPr>
            <p:ph idx="1" type="body"/>
          </p:nvPr>
        </p:nvSpPr>
        <p:spPr>
          <a:xfrm>
            <a:off x="500150" y="4746292"/>
            <a:ext cx="5910486" cy="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280"/>
              <a:buNone/>
            </a:pPr>
            <a:r>
              <a:rPr i="1" lang="en-US" sz="2400"/>
              <a:t>Resultados                                         569.030</a:t>
            </a:r>
            <a:endParaRPr i="1" sz="2400"/>
          </a:p>
        </p:txBody>
      </p:sp>
      <p:sp>
        <p:nvSpPr>
          <p:cNvPr id="445" name="Google Shape;445;p23"/>
          <p:cNvSpPr txBox="1"/>
          <p:nvPr/>
        </p:nvSpPr>
        <p:spPr>
          <a:xfrm>
            <a:off x="7215206" y="785794"/>
            <a:ext cx="192879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348.000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6" name="Google Shape;446;p23"/>
          <p:cNvSpPr txBox="1"/>
          <p:nvPr/>
        </p:nvSpPr>
        <p:spPr>
          <a:xfrm>
            <a:off x="6873936" y="3530574"/>
            <a:ext cx="219573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1.717.400</a:t>
            </a:r>
            <a:endParaRPr sz="2800">
              <a:solidFill>
                <a:schemeClr val="dk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7" name="Google Shape;447;p23"/>
          <p:cNvSpPr txBox="1"/>
          <p:nvPr/>
        </p:nvSpPr>
        <p:spPr>
          <a:xfrm>
            <a:off x="3731103" y="5730420"/>
            <a:ext cx="536408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PAS + PN            2.065.400</a:t>
            </a:r>
            <a:endParaRPr b="1" sz="2800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448" name="Google Shape;448;p23"/>
          <p:cNvSpPr txBox="1"/>
          <p:nvPr/>
        </p:nvSpPr>
        <p:spPr>
          <a:xfrm>
            <a:off x="349995" y="708849"/>
            <a:ext cx="1368152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PASIVO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49" name="Google Shape;449;p23"/>
          <p:cNvSpPr txBox="1"/>
          <p:nvPr/>
        </p:nvSpPr>
        <p:spPr>
          <a:xfrm>
            <a:off x="349995" y="1116337"/>
            <a:ext cx="6264696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Pasivo Corriente                              </a:t>
            </a:r>
            <a:r>
              <a:rPr b="1" lang="en-US" sz="2400">
                <a:solidFill>
                  <a:schemeClr val="dk1"/>
                </a:solidFill>
                <a:latin typeface="Arial Black"/>
                <a:ea typeface="Arial Black"/>
                <a:cs typeface="Arial Black"/>
                <a:sym typeface="Arial Black"/>
              </a:rPr>
              <a:t>348.000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50" name="Google Shape;450;p23"/>
          <p:cNvSpPr txBox="1"/>
          <p:nvPr/>
        </p:nvSpPr>
        <p:spPr>
          <a:xfrm>
            <a:off x="0" y="1529110"/>
            <a:ext cx="6264696" cy="830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None/>
            </a:pPr>
            <a:r>
              <a:rPr i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Deudas Sociales                                1000</a:t>
            </a:r>
            <a:endParaRPr i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51" name="Google Shape;451;p23"/>
          <p:cNvSpPr txBox="1"/>
          <p:nvPr/>
        </p:nvSpPr>
        <p:spPr>
          <a:xfrm>
            <a:off x="538356" y="1925980"/>
            <a:ext cx="7128792" cy="46166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Deudas Comerciales                        7000</a:t>
            </a:r>
            <a:endParaRPr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52" name="Google Shape;452;p23"/>
          <p:cNvSpPr txBox="1"/>
          <p:nvPr/>
        </p:nvSpPr>
        <p:spPr>
          <a:xfrm>
            <a:off x="538356" y="2337970"/>
            <a:ext cx="696139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Deudas Impositivas                         168000</a:t>
            </a:r>
            <a:endParaRPr i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53" name="Google Shape;453;p23"/>
          <p:cNvSpPr txBox="1"/>
          <p:nvPr/>
        </p:nvSpPr>
        <p:spPr>
          <a:xfrm>
            <a:off x="529069" y="2708919"/>
            <a:ext cx="588407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Deudas Bancarias                            172000</a:t>
            </a:r>
            <a:endParaRPr i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54" name="Google Shape;454;p23"/>
          <p:cNvSpPr txBox="1"/>
          <p:nvPr/>
        </p:nvSpPr>
        <p:spPr>
          <a:xfrm>
            <a:off x="393154" y="3361984"/>
            <a:ext cx="34918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PATRIMONIO NETO</a:t>
            </a:r>
            <a:endParaRPr b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55" name="Google Shape;455;p23"/>
          <p:cNvSpPr txBox="1"/>
          <p:nvPr/>
        </p:nvSpPr>
        <p:spPr>
          <a:xfrm>
            <a:off x="529069" y="3822962"/>
            <a:ext cx="6071253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onstantia"/>
              <a:buNone/>
            </a:pPr>
            <a:r>
              <a:rPr i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Capital                                               1.100.000</a:t>
            </a:r>
            <a:endParaRPr i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504854" y="4284626"/>
            <a:ext cx="612068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Ganancias Reservadas                    48.370</a:t>
            </a:r>
            <a:endParaRPr i="1" sz="24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  <p:transition>
    <p:fade thruBlk="1"/>
  </p:transition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Flujo">
  <a:themeElements>
    <a:clrScheme name="Flujo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ujo">
  <a:themeElements>
    <a:clrScheme name="Flujo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Diego</dc:creator>
</cp:coreProperties>
</file>