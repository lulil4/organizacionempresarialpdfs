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9144000"/>
  <p:notesSz cx="6858000" cy="9144000"/>
  <p:embeddedFontLst>
    <p:embeddedFont>
      <p:font typeface="Constantia"/>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25" roundtripDataSignature="AMtx7mjmPPrLlEkLElQ/IFz5qxbaQq/D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Constantia-bold.fntdata"/><Relationship Id="rId21" Type="http://schemas.openxmlformats.org/officeDocument/2006/relationships/font" Target="fonts/Constantia-regular.fntdata"/><Relationship Id="rId24" Type="http://schemas.openxmlformats.org/officeDocument/2006/relationships/font" Target="fonts/Constantia-boldItalic.fntdata"/><Relationship Id="rId23" Type="http://schemas.openxmlformats.org/officeDocument/2006/relationships/font" Target="fonts/Constantia-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8" name="Shape 158"/>
        <p:cNvGrpSpPr/>
        <p:nvPr/>
      </p:nvGrpSpPr>
      <p:grpSpPr>
        <a:xfrm>
          <a:off x="0" y="0"/>
          <a:ext cx="0" cy="0"/>
          <a:chOff x="0" y="0"/>
          <a:chExt cx="0" cy="0"/>
        </a:xfrm>
      </p:grpSpPr>
      <p:sp>
        <p:nvSpPr>
          <p:cNvPr id="159" name="Google Shape;15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4" name="Shape 164"/>
        <p:cNvGrpSpPr/>
        <p:nvPr/>
      </p:nvGrpSpPr>
      <p:grpSpPr>
        <a:xfrm>
          <a:off x="0" y="0"/>
          <a:ext cx="0" cy="0"/>
          <a:chOff x="0" y="0"/>
          <a:chExt cx="0" cy="0"/>
        </a:xfrm>
      </p:grpSpPr>
      <p:sp>
        <p:nvSpPr>
          <p:cNvPr id="165" name="Google Shape;16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6" name="Shape 176"/>
        <p:cNvGrpSpPr/>
        <p:nvPr/>
      </p:nvGrpSpPr>
      <p:grpSpPr>
        <a:xfrm>
          <a:off x="0" y="0"/>
          <a:ext cx="0" cy="0"/>
          <a:chOff x="0" y="0"/>
          <a:chExt cx="0" cy="0"/>
        </a:xfrm>
      </p:grpSpPr>
      <p:sp>
        <p:nvSpPr>
          <p:cNvPr id="177" name="Google Shape;17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Diapositiva de título" type="title">
  <p:cSld name="TITLE">
    <p:spTree>
      <p:nvGrpSpPr>
        <p:cNvPr id="16" name="Shape 16"/>
        <p:cNvGrpSpPr/>
        <p:nvPr/>
      </p:nvGrpSpPr>
      <p:grpSpPr>
        <a:xfrm>
          <a:off x="0" y="0"/>
          <a:ext cx="0" cy="0"/>
          <a:chOff x="0" y="0"/>
          <a:chExt cx="0" cy="0"/>
        </a:xfrm>
      </p:grpSpPr>
      <p:sp>
        <p:nvSpPr>
          <p:cNvPr id="17" name="Google Shape;17;p17"/>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9B97B2"/>
              </a:buClr>
              <a:buSzPts val="5600"/>
              <a:buFont typeface="Constantia"/>
              <a:buNone/>
              <a:defRPr b="1" sz="5600">
                <a:solidFill>
                  <a:srgbClr val="9B97B2"/>
                </a:solidFill>
                <a:latin typeface="Constantia"/>
                <a:ea typeface="Constantia"/>
                <a:cs typeface="Constantia"/>
                <a:sym typeface="Constant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7"/>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dk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19" name="Google Shape;19;p1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ítulo y objetos" type="obj">
  <p:cSld name="OBJECT">
    <p:spTree>
      <p:nvGrpSpPr>
        <p:cNvPr id="22" name="Shape 22"/>
        <p:cNvGrpSpPr/>
        <p:nvPr/>
      </p:nvGrpSpPr>
      <p:grpSpPr>
        <a:xfrm>
          <a:off x="0" y="0"/>
          <a:ext cx="0" cy="0"/>
          <a:chOff x="0" y="0"/>
          <a:chExt cx="0" cy="0"/>
        </a:xfrm>
      </p:grpSpPr>
      <p:sp>
        <p:nvSpPr>
          <p:cNvPr id="23" name="Google Shape;23;p1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5" name="Google Shape;25;p1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Encabezado de sección" type="secHead">
  <p:cSld name="SECTION_HEADER">
    <p:spTree>
      <p:nvGrpSpPr>
        <p:cNvPr id="28" name="Shape 28"/>
        <p:cNvGrpSpPr/>
        <p:nvPr/>
      </p:nvGrpSpPr>
      <p:grpSpPr>
        <a:xfrm>
          <a:off x="0" y="0"/>
          <a:ext cx="0" cy="0"/>
          <a:chOff x="0" y="0"/>
          <a:chExt cx="0" cy="0"/>
        </a:xfrm>
      </p:grpSpPr>
      <p:sp>
        <p:nvSpPr>
          <p:cNvPr id="29" name="Google Shape;29;p19"/>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8A9A78"/>
              </a:buClr>
              <a:buSzPts val="5600"/>
              <a:buFont typeface="Constantia"/>
              <a:buNone/>
              <a:defRPr b="1" sz="5600" cap="none">
                <a:solidFill>
                  <a:srgbClr val="8A9A78"/>
                </a:solidFill>
                <a:latin typeface="Constantia"/>
                <a:ea typeface="Constantia"/>
                <a:cs typeface="Constantia"/>
                <a:sym typeface="Constant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9"/>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dk1"/>
                </a:solidFill>
              </a:defRPr>
            </a:lvl1pPr>
            <a:lvl2pPr indent="-228600" lvl="1" marL="914400" algn="l">
              <a:spcBef>
                <a:spcPts val="360"/>
              </a:spcBef>
              <a:spcAft>
                <a:spcPts val="0"/>
              </a:spcAft>
              <a:buSzPts val="1530"/>
              <a:buNone/>
              <a:defRPr sz="1800">
                <a:solidFill>
                  <a:srgbClr val="888888"/>
                </a:solidFill>
              </a:defRPr>
            </a:lvl2pPr>
            <a:lvl3pPr indent="-228600" lvl="2" marL="1371600" algn="l">
              <a:spcBef>
                <a:spcPts val="320"/>
              </a:spcBef>
              <a:spcAft>
                <a:spcPts val="0"/>
              </a:spcAft>
              <a:buSzPts val="1120"/>
              <a:buNone/>
              <a:defRPr sz="1600">
                <a:solidFill>
                  <a:srgbClr val="888888"/>
                </a:solidFill>
              </a:defRPr>
            </a:lvl3pPr>
            <a:lvl4pPr indent="-228600" lvl="3" marL="1828800" algn="l">
              <a:spcBef>
                <a:spcPts val="280"/>
              </a:spcBef>
              <a:spcAft>
                <a:spcPts val="0"/>
              </a:spcAft>
              <a:buSzPts val="910"/>
              <a:buNone/>
              <a:defRPr sz="1400">
                <a:solidFill>
                  <a:srgbClr val="888888"/>
                </a:solidFill>
              </a:defRPr>
            </a:lvl4pPr>
            <a:lvl5pPr indent="-228600" lvl="4" marL="2286000" algn="l">
              <a:spcBef>
                <a:spcPts val="280"/>
              </a:spcBef>
              <a:spcAft>
                <a:spcPts val="0"/>
              </a:spcAft>
              <a:buSzPts val="910"/>
              <a:buNone/>
              <a:defRPr sz="1400">
                <a:solidFill>
                  <a:srgbClr val="888888"/>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1" name="Google Shape;31;p1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Dos objetos" type="twoObj">
  <p:cSld name="TWO_OBJECTS">
    <p:spTree>
      <p:nvGrpSpPr>
        <p:cNvPr id="34" name="Shape 34"/>
        <p:cNvGrpSpPr/>
        <p:nvPr/>
      </p:nvGrpSpPr>
      <p:grpSpPr>
        <a:xfrm>
          <a:off x="0" y="0"/>
          <a:ext cx="0" cy="0"/>
          <a:chOff x="0" y="0"/>
          <a:chExt cx="0" cy="0"/>
        </a:xfrm>
      </p:grpSpPr>
      <p:sp>
        <p:nvSpPr>
          <p:cNvPr id="35" name="Google Shape;35;p2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0"/>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7" name="Google Shape;37;p20"/>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8" name="Google Shape;38;p2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ación" type="twoTxTwoObj">
  <p:cSld name="TWO_OBJECTS_WITH_TEXT">
    <p:spTree>
      <p:nvGrpSpPr>
        <p:cNvPr id="41" name="Shape 41"/>
        <p:cNvGrpSpPr/>
        <p:nvPr/>
      </p:nvGrpSpPr>
      <p:grpSpPr>
        <a:xfrm>
          <a:off x="0" y="0"/>
          <a:ext cx="0" cy="0"/>
          <a:chOff x="0" y="0"/>
          <a:chExt cx="0" cy="0"/>
        </a:xfrm>
      </p:grpSpPr>
      <p:sp>
        <p:nvSpPr>
          <p:cNvPr id="42" name="Google Shape;42;p2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onstanti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1"/>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4" name="Google Shape;44;p21"/>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5" name="Google Shape;45;p21"/>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6" name="Google Shape;46;p21"/>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7" name="Google Shape;47;p2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ólo el título" type="titleOnly">
  <p:cSld name="TITLE_ONLY">
    <p:spTree>
      <p:nvGrpSpPr>
        <p:cNvPr id="50" name="Shape 50"/>
        <p:cNvGrpSpPr/>
        <p:nvPr/>
      </p:nvGrpSpPr>
      <p:grpSpPr>
        <a:xfrm>
          <a:off x="0" y="0"/>
          <a:ext cx="0" cy="0"/>
          <a:chOff x="0" y="0"/>
          <a:chExt cx="0" cy="0"/>
        </a:xfrm>
      </p:grpSpPr>
      <p:sp>
        <p:nvSpPr>
          <p:cNvPr id="51" name="Google Shape;51;p22"/>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onstantia"/>
              <a:buNone/>
              <a:defRPr b="0" sz="5000">
                <a:solidFill>
                  <a:schemeClr val="dk2"/>
                </a:solidFill>
                <a:latin typeface="Constantia"/>
                <a:ea typeface="Constantia"/>
                <a:cs typeface="Constantia"/>
                <a:sym typeface="Constant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En blanco" type="blank">
  <p:cSld name="BLANK">
    <p:spTree>
      <p:nvGrpSpPr>
        <p:cNvPr id="55" name="Shape 55"/>
        <p:cNvGrpSpPr/>
        <p:nvPr/>
      </p:nvGrpSpPr>
      <p:grpSpPr>
        <a:xfrm>
          <a:off x="0" y="0"/>
          <a:ext cx="0" cy="0"/>
          <a:chOff x="0" y="0"/>
          <a:chExt cx="0" cy="0"/>
        </a:xfrm>
      </p:grpSpPr>
      <p:sp>
        <p:nvSpPr>
          <p:cNvPr id="56" name="Google Shape;56;p2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ido con título" type="objTx">
  <p:cSld name="OBJECT_WITH_CAPTION_TEXT">
    <p:spTree>
      <p:nvGrpSpPr>
        <p:cNvPr id="59" name="Shape 59"/>
        <p:cNvGrpSpPr/>
        <p:nvPr/>
      </p:nvGrpSpPr>
      <p:grpSpPr>
        <a:xfrm>
          <a:off x="0" y="0"/>
          <a:ext cx="0" cy="0"/>
          <a:chOff x="0" y="0"/>
          <a:chExt cx="0" cy="0"/>
        </a:xfrm>
      </p:grpSpPr>
      <p:sp>
        <p:nvSpPr>
          <p:cNvPr id="60" name="Google Shape;60;p24"/>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onstantia"/>
              <a:buNone/>
              <a:defRPr b="0" sz="2600">
                <a:solidFill>
                  <a:schemeClr val="dk2"/>
                </a:solidFill>
                <a:latin typeface="Constantia"/>
                <a:ea typeface="Constantia"/>
                <a:cs typeface="Constantia"/>
                <a:sym typeface="Constant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4"/>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2" name="Google Shape;62;p24"/>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3" name="Google Shape;63;p2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Imagen con título" showMasterSp="0" type="picTx">
  <p:cSld name="PICTURE_WITH_CAPTION_TEXT">
    <p:spTree>
      <p:nvGrpSpPr>
        <p:cNvPr id="66" name="Shape 66"/>
        <p:cNvGrpSpPr/>
        <p:nvPr/>
      </p:nvGrpSpPr>
      <p:grpSpPr>
        <a:xfrm>
          <a:off x="0" y="0"/>
          <a:ext cx="0" cy="0"/>
          <a:chOff x="0" y="0"/>
          <a:chExt cx="0" cy="0"/>
        </a:xfrm>
      </p:grpSpPr>
      <p:sp>
        <p:nvSpPr>
          <p:cNvPr id="67" name="Google Shape;67;p25"/>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68" name="Google Shape;68;p25"/>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69" name="Google Shape;69;p25"/>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onstantia"/>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1" name="Google Shape;71;p2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74" name="Google Shape;74;p25"/>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rmAutofit/>
          </a:bodyPr>
          <a:lstStyle>
            <a:lvl1pPr lvl="0" marR="0" rtl="0" algn="l">
              <a:spcBef>
                <a:spcPts val="640"/>
              </a:spcBef>
              <a:spcAft>
                <a:spcPts val="0"/>
              </a:spcAft>
              <a:buClr>
                <a:schemeClr val="accent3"/>
              </a:buClr>
              <a:buSzPts val="3040"/>
              <a:buFont typeface="Noto Sans Symbols"/>
              <a:buNone/>
              <a:defRPr b="0" i="0" sz="3200" u="none" cap="none" strike="noStrike">
                <a:solidFill>
                  <a:schemeClr val="dk1"/>
                </a:solidFill>
                <a:latin typeface="Constantia"/>
                <a:ea typeface="Constantia"/>
                <a:cs typeface="Constantia"/>
                <a:sym typeface="Constantia"/>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75" name="Google Shape;75;p25"/>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A28800">
                  <a:alpha val="44705"/>
                </a:srgbClr>
              </a:gs>
              <a:gs pos="100000">
                <a:srgbClr val="7A749A">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6" name="Google Shape;76;p25"/>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63607A">
                  <a:alpha val="29803"/>
                </a:srgbClr>
              </a:gs>
              <a:gs pos="80000">
                <a:srgbClr val="D4B100">
                  <a:alpha val="44705"/>
                </a:srgbClr>
              </a:gs>
              <a:gs pos="100000">
                <a:srgbClr val="D4B100">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ítulo y texto vertical" type="vertTx">
  <p:cSld name="VERTICAL_TEXT">
    <p:spTree>
      <p:nvGrpSpPr>
        <p:cNvPr id="77" name="Shape 77"/>
        <p:cNvGrpSpPr/>
        <p:nvPr/>
      </p:nvGrpSpPr>
      <p:grpSpPr>
        <a:xfrm>
          <a:off x="0" y="0"/>
          <a:ext cx="0" cy="0"/>
          <a:chOff x="0" y="0"/>
          <a:chExt cx="0" cy="0"/>
        </a:xfrm>
      </p:grpSpPr>
      <p:sp>
        <p:nvSpPr>
          <p:cNvPr id="78" name="Google Shape;78;p2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26"/>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0" name="Google Shape;80;p2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ítulo vertical y texto" type="vertTitleAndTx">
  <p:cSld name="VERTICAL_TITLE_AND_VERTICAL_TEXT">
    <p:spTree>
      <p:nvGrpSpPr>
        <p:cNvPr id="83" name="Shape 83"/>
        <p:cNvGrpSpPr/>
        <p:nvPr/>
      </p:nvGrpSpPr>
      <p:grpSpPr>
        <a:xfrm>
          <a:off x="0" y="0"/>
          <a:ext cx="0" cy="0"/>
          <a:chOff x="0" y="0"/>
          <a:chExt cx="0" cy="0"/>
        </a:xfrm>
      </p:grpSpPr>
      <p:sp>
        <p:nvSpPr>
          <p:cNvPr id="84" name="Google Shape;84;p27"/>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7"/>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6" name="Google Shape;86;p2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blipFill rotWithShape="1">
          <a:blip r:embed="rId1">
            <a:alphaModFix/>
          </a:blip>
          <a:tile algn="tl" flip="none" tx="0" sx="65000" ty="0" sy="65000"/>
        </a:blipFill>
      </p:bgPr>
    </p:bg>
    <p:spTree>
      <p:nvGrpSpPr>
        <p:cNvPr id="5" name="Shape 5"/>
        <p:cNvGrpSpPr/>
        <p:nvPr/>
      </p:nvGrpSpPr>
      <p:grpSpPr>
        <a:xfrm>
          <a:off x="0" y="0"/>
          <a:ext cx="0" cy="0"/>
          <a:chOff x="0" y="0"/>
          <a:chExt cx="0" cy="0"/>
        </a:xfrm>
      </p:grpSpPr>
      <p:sp>
        <p:nvSpPr>
          <p:cNvPr id="6" name="Google Shape;6;p16"/>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A28800">
                  <a:alpha val="44705"/>
                </a:srgbClr>
              </a:gs>
              <a:gs pos="100000">
                <a:srgbClr val="7A749A">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nstantia"/>
              <a:ea typeface="Constantia"/>
              <a:cs typeface="Constantia"/>
              <a:sym typeface="Constantia"/>
            </a:endParaRPr>
          </a:p>
        </p:txBody>
      </p:sp>
      <p:sp>
        <p:nvSpPr>
          <p:cNvPr id="7" name="Google Shape;7;p16"/>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63607A">
                  <a:alpha val="29803"/>
                </a:srgbClr>
              </a:gs>
              <a:gs pos="80000">
                <a:srgbClr val="D4B100">
                  <a:alpha val="44705"/>
                </a:srgbClr>
              </a:gs>
              <a:gs pos="100000">
                <a:srgbClr val="D4B100">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nstantia"/>
              <a:ea typeface="Constantia"/>
              <a:cs typeface="Constantia"/>
              <a:sym typeface="Constantia"/>
            </a:endParaRPr>
          </a:p>
        </p:txBody>
      </p:sp>
      <p:sp>
        <p:nvSpPr>
          <p:cNvPr id="8" name="Google Shape;8;p1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onstantia"/>
              <a:buNone/>
              <a:defRPr b="0" i="0" sz="5000" u="none" cap="none" strike="noStrike">
                <a:solidFill>
                  <a:schemeClr val="dk2"/>
                </a:solidFill>
                <a:latin typeface="Constantia"/>
                <a:ea typeface="Constantia"/>
                <a:cs typeface="Constantia"/>
                <a:sym typeface="Constant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0" name="Google Shape;10;p1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383838"/>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11" name="Google Shape;11;p1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383838"/>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12" name="Google Shape;12;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383838"/>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383838"/>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383838"/>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383838"/>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383838"/>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383838"/>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383838"/>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383838"/>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383838"/>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s-ES"/>
              <a:t>‹#›</a:t>
            </a:fld>
            <a:endParaRPr/>
          </a:p>
        </p:txBody>
      </p:sp>
      <p:grpSp>
        <p:nvGrpSpPr>
          <p:cNvPr id="13" name="Google Shape;13;p16"/>
          <p:cNvGrpSpPr/>
          <p:nvPr/>
        </p:nvGrpSpPr>
        <p:grpSpPr>
          <a:xfrm>
            <a:off x="-29294" y="-16113"/>
            <a:ext cx="9198255" cy="1086266"/>
            <a:chOff x="-29322" y="-1971"/>
            <a:chExt cx="9198255" cy="1086266"/>
          </a:xfrm>
        </p:grpSpPr>
        <p:sp>
          <p:nvSpPr>
            <p:cNvPr id="14" name="Google Shape;14;p16"/>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7B788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 name="Google Shape;15;p16"/>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2" name="Shape 92"/>
        <p:cNvGrpSpPr/>
        <p:nvPr/>
      </p:nvGrpSpPr>
      <p:grpSpPr>
        <a:xfrm>
          <a:off x="0" y="0"/>
          <a:ext cx="0" cy="0"/>
          <a:chOff x="0" y="0"/>
          <a:chExt cx="0" cy="0"/>
        </a:xfrm>
      </p:grpSpPr>
      <p:sp>
        <p:nvSpPr>
          <p:cNvPr id="93" name="Google Shape;93;p1"/>
          <p:cNvSpPr txBox="1"/>
          <p:nvPr>
            <p:ph type="ctrTitle"/>
          </p:nvPr>
        </p:nvSpPr>
        <p:spPr>
          <a:xfrm>
            <a:off x="722376" y="1785926"/>
            <a:ext cx="7772400" cy="1863080"/>
          </a:xfrm>
          <a:prstGeom prst="rect">
            <a:avLst/>
          </a:prstGeom>
          <a:noFill/>
          <a:ln>
            <a:noFill/>
          </a:ln>
        </p:spPr>
        <p:txBody>
          <a:bodyPr anchorCtr="0" anchor="b" bIns="0" lIns="0" spcFirstLastPara="1" rIns="18275" wrap="square" tIns="0">
            <a:normAutofit/>
          </a:bodyPr>
          <a:lstStyle/>
          <a:p>
            <a:pPr indent="0" lvl="0" marL="0" rtl="0" algn="r">
              <a:spcBef>
                <a:spcPts val="0"/>
              </a:spcBef>
              <a:spcAft>
                <a:spcPts val="0"/>
              </a:spcAft>
              <a:buClr>
                <a:srgbClr val="9B97B2"/>
              </a:buClr>
              <a:buSzPts val="5040"/>
              <a:buFont typeface="Constantia"/>
              <a:buNone/>
            </a:pPr>
            <a:r>
              <a:rPr lang="es-ES" sz="5040"/>
              <a:t>Evaluación económica de proyectos de inversión</a:t>
            </a:r>
            <a:endParaRPr sz="5040"/>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7" name="Shape 97"/>
        <p:cNvGrpSpPr/>
        <p:nvPr/>
      </p:nvGrpSpPr>
      <p:grpSpPr>
        <a:xfrm>
          <a:off x="0" y="0"/>
          <a:ext cx="0" cy="0"/>
          <a:chOff x="0" y="0"/>
          <a:chExt cx="0" cy="0"/>
        </a:xfrm>
      </p:grpSpPr>
      <p:sp>
        <p:nvSpPr>
          <p:cNvPr id="98" name="Google Shape;98;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s-ES"/>
              <a:t>PROYECTOS</a:t>
            </a:r>
            <a:endParaRPr/>
          </a:p>
        </p:txBody>
      </p:sp>
      <p:sp>
        <p:nvSpPr>
          <p:cNvPr id="99" name="Google Shape;99;p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s-ES"/>
              <a:t>Conceptos</a:t>
            </a:r>
            <a:endParaRPr/>
          </a:p>
          <a:p>
            <a:pPr indent="-274320" lvl="0" marL="274320" rtl="0" algn="just">
              <a:spcBef>
                <a:spcPts val="520"/>
              </a:spcBef>
              <a:spcAft>
                <a:spcPts val="0"/>
              </a:spcAft>
              <a:buSzPts val="2470"/>
              <a:buNone/>
            </a:pPr>
            <a:r>
              <a:rPr lang="es-ES"/>
              <a:t>       Proyecto es una solución planeada e inteligente que pretende resolver un problema determinado.</a:t>
            </a:r>
            <a:endParaRPr/>
          </a:p>
          <a:p>
            <a:pPr indent="-274320" lvl="0" marL="274320" rtl="0" algn="just">
              <a:spcBef>
                <a:spcPts val="520"/>
              </a:spcBef>
              <a:spcAft>
                <a:spcPts val="0"/>
              </a:spcAft>
              <a:buSzPts val="2470"/>
              <a:buNone/>
            </a:pPr>
            <a:r>
              <a:t/>
            </a:r>
            <a:endParaRPr/>
          </a:p>
          <a:p>
            <a:pPr indent="-274320" lvl="0" marL="274320" rtl="0" algn="just">
              <a:spcBef>
                <a:spcPts val="520"/>
              </a:spcBef>
              <a:spcAft>
                <a:spcPts val="0"/>
              </a:spcAft>
              <a:buSzPts val="2470"/>
              <a:buNone/>
            </a:pPr>
            <a:r>
              <a:rPr lang="es-ES"/>
              <a:t>       Evaluar un proyecto es estudiar cómo se asignarán los escasos recursos disponibles, cual será la manera más eficiente de realizarlo, qué rentabilidad se obtendrá, quienes serán favorecidos y quienes perjudicados, cuanto tiempo se empleará, entre otras cuestiones.</a:t>
            </a:r>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3" name="Shape 103"/>
        <p:cNvGrpSpPr/>
        <p:nvPr/>
      </p:nvGrpSpPr>
      <p:grpSpPr>
        <a:xfrm>
          <a:off x="0" y="0"/>
          <a:ext cx="0" cy="0"/>
          <a:chOff x="0" y="0"/>
          <a:chExt cx="0" cy="0"/>
        </a:xfrm>
      </p:grpSpPr>
      <p:sp>
        <p:nvSpPr>
          <p:cNvPr id="104" name="Google Shape;104;p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s-ES"/>
              <a:t>El Proceso de Evaluación</a:t>
            </a:r>
            <a:endParaRPr/>
          </a:p>
        </p:txBody>
      </p:sp>
      <p:sp>
        <p:nvSpPr>
          <p:cNvPr id="105" name="Google Shape;105;p3"/>
          <p:cNvSpPr txBox="1"/>
          <p:nvPr>
            <p:ph idx="1" type="body"/>
          </p:nvPr>
        </p:nvSpPr>
        <p:spPr>
          <a:xfrm>
            <a:off x="457200" y="2285992"/>
            <a:ext cx="8229600" cy="4038608"/>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s-ES"/>
              <a:t>Etapas</a:t>
            </a:r>
            <a:endParaRPr/>
          </a:p>
          <a:p>
            <a:pPr indent="-274320" lvl="0" marL="274320" rtl="0" algn="l">
              <a:spcBef>
                <a:spcPts val="520"/>
              </a:spcBef>
              <a:spcAft>
                <a:spcPts val="0"/>
              </a:spcAft>
              <a:buSzPts val="2470"/>
              <a:buNone/>
            </a:pPr>
            <a:r>
              <a:t/>
            </a:r>
            <a:endParaRPr/>
          </a:p>
          <a:p>
            <a:pPr indent="-177800" lvl="0" marL="450850" rtl="0" algn="l">
              <a:spcBef>
                <a:spcPts val="520"/>
              </a:spcBef>
              <a:spcAft>
                <a:spcPts val="0"/>
              </a:spcAft>
              <a:buSzPts val="2470"/>
              <a:buFont typeface="Noto Sans Symbols"/>
              <a:buChar char="✔"/>
            </a:pPr>
            <a:r>
              <a:rPr lang="es-ES"/>
              <a:t> Visión global</a:t>
            </a:r>
            <a:endParaRPr/>
          </a:p>
          <a:p>
            <a:pPr indent="-177800" lvl="0" marL="450850" rtl="0" algn="l">
              <a:spcBef>
                <a:spcPts val="520"/>
              </a:spcBef>
              <a:spcAft>
                <a:spcPts val="0"/>
              </a:spcAft>
              <a:buSzPts val="2470"/>
              <a:buFont typeface="Noto Sans Symbols"/>
              <a:buChar char="✔"/>
            </a:pPr>
            <a:r>
              <a:rPr lang="es-ES"/>
              <a:t>Anteproyecto</a:t>
            </a:r>
            <a:endParaRPr/>
          </a:p>
          <a:p>
            <a:pPr indent="-177800" lvl="0" marL="450850" rtl="0" algn="l">
              <a:spcBef>
                <a:spcPts val="520"/>
              </a:spcBef>
              <a:spcAft>
                <a:spcPts val="0"/>
              </a:spcAft>
              <a:buSzPts val="2470"/>
              <a:buFont typeface="Noto Sans Symbols"/>
              <a:buChar char="✔"/>
            </a:pPr>
            <a:r>
              <a:rPr lang="es-ES"/>
              <a:t>Proyecto definitivo    </a:t>
            </a:r>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Effect filter="fade" transition="in">
                                      <p:cBhvr>
                                        <p:cTn dur="500"/>
                                        <p:tgtEl>
                                          <p:spTgt spid="1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animEffect filter="fade" transition="in">
                                      <p:cBhvr>
                                        <p:cTn dur="500"/>
                                        <p:tgtEl>
                                          <p:spTgt spid="1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animEffect filter="fade" transition="in">
                                      <p:cBhvr>
                                        <p:cTn dur="500"/>
                                        <p:tgtEl>
                                          <p:spTgt spid="1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animEffect filter="fade" transition="in">
                                      <p:cBhvr>
                                        <p:cTn dur="500"/>
                                        <p:tgtEl>
                                          <p:spTgt spid="1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animEffect filter="fade" transition="in">
                                      <p:cBhvr>
                                        <p:cTn dur="500"/>
                                        <p:tgtEl>
                                          <p:spTgt spid="10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 name="Shape 109"/>
        <p:cNvGrpSpPr/>
        <p:nvPr/>
      </p:nvGrpSpPr>
      <p:grpSpPr>
        <a:xfrm>
          <a:off x="0" y="0"/>
          <a:ext cx="0" cy="0"/>
          <a:chOff x="0" y="0"/>
          <a:chExt cx="0" cy="0"/>
        </a:xfrm>
      </p:grpSpPr>
      <p:sp>
        <p:nvSpPr>
          <p:cNvPr id="110" name="Google Shape;110;p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onstantia"/>
              <a:buNone/>
            </a:pPr>
            <a:r>
              <a:rPr lang="es-ES"/>
              <a:t>Métodos de Evaluación</a:t>
            </a:r>
            <a:endParaRPr/>
          </a:p>
        </p:txBody>
      </p:sp>
      <p:sp>
        <p:nvSpPr>
          <p:cNvPr id="111" name="Google Shape;111;p4"/>
          <p:cNvSpPr txBox="1"/>
          <p:nvPr>
            <p:ph idx="1" type="body"/>
          </p:nvPr>
        </p:nvSpPr>
        <p:spPr>
          <a:xfrm>
            <a:off x="457200" y="2428868"/>
            <a:ext cx="8229600" cy="3895732"/>
          </a:xfrm>
          <a:prstGeom prst="rect">
            <a:avLst/>
          </a:prstGeom>
          <a:gradFill>
            <a:gsLst>
              <a:gs pos="0">
                <a:srgbClr val="65562E"/>
              </a:gs>
              <a:gs pos="68000">
                <a:srgbClr val="B2A78E"/>
              </a:gs>
              <a:gs pos="100000">
                <a:srgbClr val="D8D2C4"/>
              </a:gs>
            </a:gsLst>
            <a:path path="circle">
              <a:fillToRect b="50%" l="50%" r="50%" t="50%"/>
            </a:path>
            <a:tileRect/>
          </a:gradFill>
          <a:ln cap="flat" cmpd="sng" w="9525">
            <a:solidFill>
              <a:srgbClr val="736A52"/>
            </a:solidFill>
            <a:prstDash val="solid"/>
            <a:round/>
            <a:headEnd len="sm" w="sm" type="none"/>
            <a:tailEnd len="sm" w="sm" type="none"/>
          </a:ln>
          <a:effectLst>
            <a:outerShdw blurRad="57150" rotWithShape="0" algn="ctr" dir="5400000" dist="38100">
              <a:srgbClr val="000000"/>
            </a:outerShdw>
          </a:effectLst>
        </p:spPr>
        <p:txBody>
          <a:bodyPr anchorCtr="0" anchor="t" bIns="45700" lIns="91425" spcFirstLastPara="1" rIns="91425" wrap="square" tIns="45700">
            <a:normAutofit/>
          </a:bodyPr>
          <a:lstStyle/>
          <a:p>
            <a:pPr indent="-294005" lvl="0" marL="450850" rtl="0" algn="l">
              <a:spcBef>
                <a:spcPts val="0"/>
              </a:spcBef>
              <a:spcAft>
                <a:spcPts val="0"/>
              </a:spcAft>
              <a:buSzPts val="2470"/>
              <a:buFont typeface="Noto Sans Symbols"/>
              <a:buNone/>
            </a:pPr>
            <a:r>
              <a:t/>
            </a:r>
            <a:endParaRPr>
              <a:solidFill>
                <a:schemeClr val="dk1"/>
              </a:solidFill>
            </a:endParaRPr>
          </a:p>
          <a:p>
            <a:pPr indent="-156845" lvl="0" marL="450850" rtl="0" algn="l">
              <a:spcBef>
                <a:spcPts val="520"/>
              </a:spcBef>
              <a:spcAft>
                <a:spcPts val="0"/>
              </a:spcAft>
              <a:buSzPts val="2470"/>
              <a:buFont typeface="Noto Sans Symbols"/>
              <a:buChar char="❖"/>
            </a:pPr>
            <a:r>
              <a:rPr lang="es-ES">
                <a:solidFill>
                  <a:schemeClr val="dk1"/>
                </a:solidFill>
                <a:latin typeface="Constantia"/>
                <a:ea typeface="Constantia"/>
                <a:cs typeface="Constantia"/>
                <a:sym typeface="Constantia"/>
              </a:rPr>
              <a:t>  Valor presente</a:t>
            </a:r>
            <a:endParaRPr/>
          </a:p>
          <a:p>
            <a:pPr indent="-156845" lvl="0" marL="450850" rtl="0" algn="l">
              <a:spcBef>
                <a:spcPts val="520"/>
              </a:spcBef>
              <a:spcAft>
                <a:spcPts val="0"/>
              </a:spcAft>
              <a:buSzPts val="2470"/>
              <a:buFont typeface="Noto Sans Symbols"/>
              <a:buChar char="❖"/>
            </a:pPr>
            <a:r>
              <a:rPr lang="es-ES">
                <a:solidFill>
                  <a:schemeClr val="dk1"/>
                </a:solidFill>
                <a:latin typeface="Constantia"/>
                <a:ea typeface="Constantia"/>
                <a:cs typeface="Constantia"/>
                <a:sym typeface="Constantia"/>
              </a:rPr>
              <a:t>  Valor anual equivalente</a:t>
            </a:r>
            <a:endParaRPr/>
          </a:p>
          <a:p>
            <a:pPr indent="-156845" lvl="0" marL="450850" rtl="0" algn="l">
              <a:spcBef>
                <a:spcPts val="520"/>
              </a:spcBef>
              <a:spcAft>
                <a:spcPts val="0"/>
              </a:spcAft>
              <a:buSzPts val="2470"/>
              <a:buFont typeface="Noto Sans Symbols"/>
              <a:buChar char="❖"/>
            </a:pPr>
            <a:r>
              <a:rPr lang="es-ES">
                <a:solidFill>
                  <a:schemeClr val="dk1"/>
                </a:solidFill>
                <a:latin typeface="Constantia"/>
                <a:ea typeface="Constantia"/>
                <a:cs typeface="Constantia"/>
                <a:sym typeface="Constantia"/>
              </a:rPr>
              <a:t>  Valor futuro</a:t>
            </a:r>
            <a:endParaRPr/>
          </a:p>
          <a:p>
            <a:pPr indent="-156845" lvl="0" marL="450850" rtl="0" algn="l">
              <a:spcBef>
                <a:spcPts val="520"/>
              </a:spcBef>
              <a:spcAft>
                <a:spcPts val="0"/>
              </a:spcAft>
              <a:buSzPts val="2470"/>
              <a:buFont typeface="Noto Sans Symbols"/>
              <a:buChar char="❖"/>
            </a:pPr>
            <a:r>
              <a:rPr lang="es-ES">
                <a:solidFill>
                  <a:schemeClr val="dk1"/>
                </a:solidFill>
                <a:latin typeface="Constantia"/>
                <a:ea typeface="Constantia"/>
                <a:cs typeface="Constantia"/>
                <a:sym typeface="Constantia"/>
              </a:rPr>
              <a:t>  TIR</a:t>
            </a:r>
            <a:endParaRPr/>
          </a:p>
          <a:p>
            <a:pPr indent="-156845" lvl="0" marL="450850" rtl="0" algn="l">
              <a:spcBef>
                <a:spcPts val="520"/>
              </a:spcBef>
              <a:spcAft>
                <a:spcPts val="0"/>
              </a:spcAft>
              <a:buSzPts val="2470"/>
              <a:buFont typeface="Noto Sans Symbols"/>
              <a:buChar char="❖"/>
            </a:pPr>
            <a:r>
              <a:rPr lang="es-ES">
                <a:solidFill>
                  <a:schemeClr val="dk1"/>
                </a:solidFill>
                <a:latin typeface="Constantia"/>
                <a:ea typeface="Constantia"/>
                <a:cs typeface="Constantia"/>
                <a:sym typeface="Constantia"/>
              </a:rPr>
              <a:t>  Período de retorno</a:t>
            </a:r>
            <a:endParaRPr>
              <a:solidFill>
                <a:schemeClr val="dk1"/>
              </a:solidFill>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5" name="Shape 115"/>
        <p:cNvGrpSpPr/>
        <p:nvPr/>
      </p:nvGrpSpPr>
      <p:grpSpPr>
        <a:xfrm>
          <a:off x="0" y="0"/>
          <a:ext cx="0" cy="0"/>
          <a:chOff x="0" y="0"/>
          <a:chExt cx="0" cy="0"/>
        </a:xfrm>
      </p:grpSpPr>
      <p:sp>
        <p:nvSpPr>
          <p:cNvPr id="116" name="Google Shape;116;p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onstantia"/>
              <a:buNone/>
            </a:pPr>
            <a:r>
              <a:rPr lang="es-ES" sz="4000"/>
              <a:t>Método del Valor Presente</a:t>
            </a:r>
            <a:endParaRPr sz="4000"/>
          </a:p>
        </p:txBody>
      </p:sp>
      <p:sp>
        <p:nvSpPr>
          <p:cNvPr id="117" name="Google Shape;117;p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lnSpc>
                <a:spcPct val="80000"/>
              </a:lnSpc>
              <a:spcBef>
                <a:spcPts val="0"/>
              </a:spcBef>
              <a:spcAft>
                <a:spcPts val="0"/>
              </a:spcAft>
              <a:buSzPts val="2285"/>
              <a:buNone/>
            </a:pPr>
            <a:r>
              <a:rPr lang="es-ES" sz="2405"/>
              <a:t>      Calcula las cantidades equivalentes al presente (tiempo cero) de los distintos flujos de dinero que se suceden en el futuro.</a:t>
            </a:r>
            <a:endParaRPr/>
          </a:p>
          <a:p>
            <a:pPr indent="-274320" lvl="0" marL="274320" rtl="0" algn="just">
              <a:lnSpc>
                <a:spcPct val="80000"/>
              </a:lnSpc>
              <a:spcBef>
                <a:spcPts val="481"/>
              </a:spcBef>
              <a:spcAft>
                <a:spcPts val="0"/>
              </a:spcAft>
              <a:buSzPts val="2285"/>
              <a:buNone/>
            </a:pPr>
            <a:r>
              <a:t/>
            </a:r>
            <a:endParaRPr sz="2405"/>
          </a:p>
          <a:p>
            <a:pPr indent="-274320" lvl="0" marL="274320" rtl="0" algn="just">
              <a:lnSpc>
                <a:spcPct val="80000"/>
              </a:lnSpc>
              <a:spcBef>
                <a:spcPts val="481"/>
              </a:spcBef>
              <a:spcAft>
                <a:spcPts val="0"/>
              </a:spcAft>
              <a:buSzPts val="2285"/>
              <a:buNone/>
            </a:pPr>
            <a:r>
              <a:t/>
            </a:r>
            <a:endParaRPr sz="2405"/>
          </a:p>
          <a:p>
            <a:pPr indent="-274320" lvl="0" marL="274320" rtl="0" algn="just">
              <a:lnSpc>
                <a:spcPct val="83160"/>
              </a:lnSpc>
              <a:spcBef>
                <a:spcPts val="0"/>
              </a:spcBef>
              <a:spcAft>
                <a:spcPts val="0"/>
              </a:spcAft>
              <a:buSzPts val="2285"/>
              <a:buNone/>
            </a:pPr>
            <a:r>
              <a:rPr lang="es-ES" sz="2405"/>
              <a:t>                         </a:t>
            </a:r>
            <a:r>
              <a:rPr lang="es-ES" sz="1480"/>
              <a:t>n</a:t>
            </a:r>
            <a:endParaRPr sz="2405"/>
          </a:p>
          <a:p>
            <a:pPr indent="-274320" lvl="0" marL="274320" rtl="0" algn="just">
              <a:lnSpc>
                <a:spcPct val="77220"/>
              </a:lnSpc>
              <a:spcBef>
                <a:spcPts val="518"/>
              </a:spcBef>
              <a:spcAft>
                <a:spcPts val="0"/>
              </a:spcAft>
              <a:buSzPts val="2285"/>
              <a:buNone/>
            </a:pPr>
            <a:r>
              <a:rPr lang="es-ES" sz="2405"/>
              <a:t>  </a:t>
            </a:r>
            <a:r>
              <a:rPr lang="es-ES" sz="2405">
                <a:latin typeface="Times New Roman"/>
                <a:ea typeface="Times New Roman"/>
                <a:cs typeface="Times New Roman"/>
                <a:sym typeface="Times New Roman"/>
              </a:rPr>
              <a:t>V.P.N.= -E</a:t>
            </a:r>
            <a:r>
              <a:rPr lang="es-ES" sz="1295">
                <a:latin typeface="Times New Roman"/>
                <a:ea typeface="Times New Roman"/>
                <a:cs typeface="Times New Roman"/>
                <a:sym typeface="Times New Roman"/>
              </a:rPr>
              <a:t>0  </a:t>
            </a:r>
            <a:r>
              <a:rPr lang="es-ES" sz="2590">
                <a:latin typeface="Times New Roman"/>
                <a:ea typeface="Times New Roman"/>
                <a:cs typeface="Times New Roman"/>
                <a:sym typeface="Times New Roman"/>
              </a:rPr>
              <a:t>+ ∑</a:t>
            </a:r>
            <a:r>
              <a:rPr lang="es-ES" sz="1295">
                <a:latin typeface="Times New Roman"/>
                <a:ea typeface="Times New Roman"/>
                <a:cs typeface="Times New Roman"/>
                <a:sym typeface="Times New Roman"/>
              </a:rPr>
              <a:t>  </a:t>
            </a:r>
            <a:r>
              <a:rPr lang="es-ES" sz="1295" u="sng">
                <a:latin typeface="Times New Roman"/>
                <a:ea typeface="Times New Roman"/>
                <a:cs typeface="Times New Roman"/>
                <a:sym typeface="Times New Roman"/>
              </a:rPr>
              <a:t>        </a:t>
            </a:r>
            <a:r>
              <a:rPr lang="es-ES" sz="2220" u="sng">
                <a:latin typeface="Times New Roman"/>
                <a:ea typeface="Times New Roman"/>
                <a:cs typeface="Times New Roman"/>
                <a:sym typeface="Times New Roman"/>
              </a:rPr>
              <a:t>I</a:t>
            </a:r>
            <a:r>
              <a:rPr lang="es-ES" sz="1295" u="sng">
                <a:latin typeface="Times New Roman"/>
                <a:ea typeface="Times New Roman"/>
                <a:cs typeface="Times New Roman"/>
                <a:sym typeface="Times New Roman"/>
              </a:rPr>
              <a:t>t</a:t>
            </a:r>
            <a:r>
              <a:rPr lang="es-ES" sz="2220" u="sng">
                <a:latin typeface="Times New Roman"/>
                <a:ea typeface="Times New Roman"/>
                <a:cs typeface="Times New Roman"/>
                <a:sym typeface="Times New Roman"/>
              </a:rPr>
              <a:t>        .</a:t>
            </a:r>
            <a:endParaRPr sz="1295">
              <a:latin typeface="Times New Roman"/>
              <a:ea typeface="Times New Roman"/>
              <a:cs typeface="Times New Roman"/>
              <a:sym typeface="Times New Roman"/>
            </a:endParaRPr>
          </a:p>
          <a:p>
            <a:pPr indent="-274320" lvl="0" marL="274320" rtl="0" algn="just">
              <a:lnSpc>
                <a:spcPct val="90090"/>
              </a:lnSpc>
              <a:spcBef>
                <a:spcPts val="444"/>
              </a:spcBef>
              <a:spcAft>
                <a:spcPts val="0"/>
              </a:spcAft>
              <a:buSzPts val="1230"/>
              <a:buNone/>
            </a:pPr>
            <a:r>
              <a:rPr lang="es-ES" sz="1295">
                <a:latin typeface="Times New Roman"/>
                <a:ea typeface="Times New Roman"/>
                <a:cs typeface="Times New Roman"/>
                <a:sym typeface="Times New Roman"/>
              </a:rPr>
              <a:t>                                               t=1      </a:t>
            </a:r>
            <a:r>
              <a:rPr lang="es-ES" sz="2220">
                <a:latin typeface="Times New Roman"/>
                <a:ea typeface="Times New Roman"/>
                <a:cs typeface="Times New Roman"/>
                <a:sym typeface="Times New Roman"/>
              </a:rPr>
              <a:t>(1 + i)</a:t>
            </a:r>
            <a:r>
              <a:rPr baseline="30000" lang="es-ES" sz="2220">
                <a:latin typeface="Times New Roman"/>
                <a:ea typeface="Times New Roman"/>
                <a:cs typeface="Times New Roman"/>
                <a:sym typeface="Times New Roman"/>
              </a:rPr>
              <a:t>t</a:t>
            </a:r>
            <a:endParaRPr/>
          </a:p>
          <a:p>
            <a:pPr indent="-274320" lvl="0" marL="274320" rtl="0" algn="just">
              <a:lnSpc>
                <a:spcPct val="90090"/>
              </a:lnSpc>
              <a:spcBef>
                <a:spcPts val="444"/>
              </a:spcBef>
              <a:spcAft>
                <a:spcPts val="0"/>
              </a:spcAft>
              <a:buSzPts val="2109"/>
              <a:buNone/>
            </a:pPr>
            <a:r>
              <a:t/>
            </a:r>
            <a:endParaRPr baseline="30000" sz="2220">
              <a:latin typeface="Times New Roman"/>
              <a:ea typeface="Times New Roman"/>
              <a:cs typeface="Times New Roman"/>
              <a:sym typeface="Times New Roman"/>
            </a:endParaRPr>
          </a:p>
          <a:p>
            <a:pPr indent="-274320" lvl="0" marL="274320" rtl="0" algn="l">
              <a:lnSpc>
                <a:spcPct val="80000"/>
              </a:lnSpc>
              <a:spcBef>
                <a:spcPts val="444"/>
              </a:spcBef>
              <a:spcAft>
                <a:spcPts val="0"/>
              </a:spcAft>
              <a:buSzPts val="2109"/>
              <a:buNone/>
            </a:pPr>
            <a:r>
              <a:rPr lang="es-ES" sz="2220"/>
              <a:t>P  = F (1+i)</a:t>
            </a:r>
            <a:r>
              <a:rPr baseline="30000" lang="es-ES" sz="2220"/>
              <a:t>n                                </a:t>
            </a:r>
            <a:r>
              <a:rPr lang="es-ES" sz="2220"/>
              <a:t>P  = A. </a:t>
            </a:r>
            <a:r>
              <a:rPr lang="es-ES" sz="2220" u="sng"/>
              <a:t>(1+i)</a:t>
            </a:r>
            <a:r>
              <a:rPr baseline="30000" lang="es-ES" sz="2220" u="sng"/>
              <a:t>n</a:t>
            </a:r>
            <a:r>
              <a:rPr lang="es-ES" sz="2220" u="sng"/>
              <a:t> - 1  _     </a:t>
            </a:r>
            <a:endParaRPr sz="2220"/>
          </a:p>
          <a:p>
            <a:pPr indent="-274320" lvl="0" marL="274320" rtl="0" algn="l">
              <a:lnSpc>
                <a:spcPct val="80000"/>
              </a:lnSpc>
              <a:spcBef>
                <a:spcPts val="444"/>
              </a:spcBef>
              <a:spcAft>
                <a:spcPts val="0"/>
              </a:spcAft>
              <a:buSzPts val="2109"/>
              <a:buNone/>
            </a:pPr>
            <a:r>
              <a:rPr lang="es-ES" sz="2220"/>
              <a:t>                                                     (1+i)</a:t>
            </a:r>
            <a:r>
              <a:rPr baseline="30000" lang="es-ES" sz="2220"/>
              <a:t>n</a:t>
            </a:r>
            <a:r>
              <a:rPr lang="es-ES" sz="2220"/>
              <a:t> . i       </a:t>
            </a:r>
            <a:endParaRPr sz="2220"/>
          </a:p>
          <a:p>
            <a:pPr indent="-274320" lvl="0" marL="274320" rtl="0" algn="l">
              <a:lnSpc>
                <a:spcPct val="80000"/>
              </a:lnSpc>
              <a:spcBef>
                <a:spcPts val="444"/>
              </a:spcBef>
              <a:spcAft>
                <a:spcPts val="0"/>
              </a:spcAft>
              <a:buSzPts val="2109"/>
              <a:buNone/>
            </a:pPr>
            <a:r>
              <a:rPr baseline="30000" lang="es-ES" sz="2220"/>
              <a:t>   </a:t>
            </a:r>
            <a:r>
              <a:rPr lang="es-ES" sz="2220" u="sng"/>
              <a:t>     </a:t>
            </a:r>
            <a:endParaRPr sz="2220"/>
          </a:p>
          <a:p>
            <a:pPr indent="-274320" lvl="0" marL="274320" rtl="0" algn="l">
              <a:lnSpc>
                <a:spcPct val="80000"/>
              </a:lnSpc>
              <a:spcBef>
                <a:spcPts val="444"/>
              </a:spcBef>
              <a:spcAft>
                <a:spcPts val="0"/>
              </a:spcAft>
              <a:buSzPts val="2109"/>
              <a:buNone/>
            </a:pPr>
            <a:r>
              <a:rPr lang="es-ES" sz="2220"/>
              <a:t>                     </a:t>
            </a:r>
            <a:endParaRPr/>
          </a:p>
          <a:p>
            <a:pPr indent="-274320" lvl="0" marL="274320" rtl="0" algn="just">
              <a:lnSpc>
                <a:spcPct val="90090"/>
              </a:lnSpc>
              <a:spcBef>
                <a:spcPts val="444"/>
              </a:spcBef>
              <a:spcAft>
                <a:spcPts val="0"/>
              </a:spcAft>
              <a:buSzPts val="2109"/>
              <a:buNone/>
            </a:pPr>
            <a:r>
              <a:t/>
            </a:r>
            <a:endParaRPr baseline="30000" sz="2220">
              <a:latin typeface="Times New Roman"/>
              <a:ea typeface="Times New Roman"/>
              <a:cs typeface="Times New Roman"/>
              <a:sym typeface="Times New Roman"/>
            </a:endParaRPr>
          </a:p>
          <a:p>
            <a:pPr indent="-274320" lvl="0" marL="274320" rtl="0" algn="just">
              <a:lnSpc>
                <a:spcPct val="83160"/>
              </a:lnSpc>
              <a:spcBef>
                <a:spcPts val="481"/>
              </a:spcBef>
              <a:spcAft>
                <a:spcPts val="0"/>
              </a:spcAft>
              <a:buSzPts val="2285"/>
              <a:buNone/>
            </a:pPr>
            <a:r>
              <a:t/>
            </a:r>
            <a:endParaRPr sz="2405">
              <a:latin typeface="Times New Roman"/>
              <a:ea typeface="Times New Roman"/>
              <a:cs typeface="Times New Roman"/>
              <a:sym typeface="Times New Roman"/>
            </a:endParaRPr>
          </a:p>
        </p:txBody>
      </p:sp>
      <p:sp>
        <p:nvSpPr>
          <p:cNvPr id="118" name="Google Shape;118;p5"/>
          <p:cNvSpPr/>
          <p:nvPr/>
        </p:nvSpPr>
        <p:spPr>
          <a:xfrm>
            <a:off x="4211960" y="4581128"/>
            <a:ext cx="1368152" cy="1080120"/>
          </a:xfrm>
          <a:prstGeom prst="bracketPair">
            <a:avLst/>
          </a:prstGeom>
          <a:noFill/>
          <a:ln cap="flat" cmpd="sng" w="9525">
            <a:solidFill>
              <a:srgbClr val="4F748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Constantia"/>
              <a:ea typeface="Constantia"/>
              <a:cs typeface="Constantia"/>
              <a:sym typeface="Constant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animEffect filter="fade" transition="in">
                                      <p:cBhvr>
                                        <p:cTn dur="500"/>
                                        <p:tgtEl>
                                          <p:spTgt spid="1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animEffect filter="fade" transition="in">
                                      <p:cBhvr>
                                        <p:cTn dur="500"/>
                                        <p:tgtEl>
                                          <p:spTgt spid="1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animEffect filter="fade" transition="in">
                                      <p:cBhvr>
                                        <p:cTn dur="500"/>
                                        <p:tgtEl>
                                          <p:spTgt spid="1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animEffect filter="fade" transition="in">
                                      <p:cBhvr>
                                        <p:cTn dur="500"/>
                                        <p:tgtEl>
                                          <p:spTgt spid="1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animEffect filter="fade" transition="in">
                                      <p:cBhvr>
                                        <p:cTn dur="500"/>
                                        <p:tgtEl>
                                          <p:spTgt spid="1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animEffect filter="fade" transition="in">
                                      <p:cBhvr>
                                        <p:cTn dur="500"/>
                                        <p:tgtEl>
                                          <p:spTgt spid="1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6" st="6"/>
                                            </p:txEl>
                                          </p:spTgt>
                                        </p:tgtEl>
                                        <p:attrNameLst>
                                          <p:attrName>style.visibility</p:attrName>
                                        </p:attrNameLst>
                                      </p:cBhvr>
                                      <p:to>
                                        <p:strVal val="visible"/>
                                      </p:to>
                                    </p:set>
                                    <p:animEffect filter="fade" transition="in">
                                      <p:cBhvr>
                                        <p:cTn dur="500"/>
                                        <p:tgtEl>
                                          <p:spTgt spid="11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7" st="7"/>
                                            </p:txEl>
                                          </p:spTgt>
                                        </p:tgtEl>
                                        <p:attrNameLst>
                                          <p:attrName>style.visibility</p:attrName>
                                        </p:attrNameLst>
                                      </p:cBhvr>
                                      <p:to>
                                        <p:strVal val="visible"/>
                                      </p:to>
                                    </p:set>
                                    <p:animEffect filter="fade" transition="in">
                                      <p:cBhvr>
                                        <p:cTn dur="500"/>
                                        <p:tgtEl>
                                          <p:spTgt spid="11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8" st="8"/>
                                            </p:txEl>
                                          </p:spTgt>
                                        </p:tgtEl>
                                        <p:attrNameLst>
                                          <p:attrName>style.visibility</p:attrName>
                                        </p:attrNameLst>
                                      </p:cBhvr>
                                      <p:to>
                                        <p:strVal val="visible"/>
                                      </p:to>
                                    </p:set>
                                    <p:animEffect filter="fade" transition="in">
                                      <p:cBhvr>
                                        <p:cTn dur="500"/>
                                        <p:tgtEl>
                                          <p:spTgt spid="11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9" st="9"/>
                                            </p:txEl>
                                          </p:spTgt>
                                        </p:tgtEl>
                                        <p:attrNameLst>
                                          <p:attrName>style.visibility</p:attrName>
                                        </p:attrNameLst>
                                      </p:cBhvr>
                                      <p:to>
                                        <p:strVal val="visible"/>
                                      </p:to>
                                    </p:set>
                                    <p:animEffect filter="fade" transition="in">
                                      <p:cBhvr>
                                        <p:cTn dur="500"/>
                                        <p:tgtEl>
                                          <p:spTgt spid="11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10" st="10"/>
                                            </p:txEl>
                                          </p:spTgt>
                                        </p:tgtEl>
                                        <p:attrNameLst>
                                          <p:attrName>style.visibility</p:attrName>
                                        </p:attrNameLst>
                                      </p:cBhvr>
                                      <p:to>
                                        <p:strVal val="visible"/>
                                      </p:to>
                                    </p:set>
                                    <p:animEffect filter="fade" transition="in">
                                      <p:cBhvr>
                                        <p:cTn dur="500"/>
                                        <p:tgtEl>
                                          <p:spTgt spid="11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11" st="11"/>
                                            </p:txEl>
                                          </p:spTgt>
                                        </p:tgtEl>
                                        <p:attrNameLst>
                                          <p:attrName>style.visibility</p:attrName>
                                        </p:attrNameLst>
                                      </p:cBhvr>
                                      <p:to>
                                        <p:strVal val="visible"/>
                                      </p:to>
                                    </p:set>
                                    <p:animEffect filter="fade" transition="in">
                                      <p:cBhvr>
                                        <p:cTn dur="500"/>
                                        <p:tgtEl>
                                          <p:spTgt spid="11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xEl>
                                              <p:pRg end="12" st="12"/>
                                            </p:txEl>
                                          </p:spTgt>
                                        </p:tgtEl>
                                        <p:attrNameLst>
                                          <p:attrName>style.visibility</p:attrName>
                                        </p:attrNameLst>
                                      </p:cBhvr>
                                      <p:to>
                                        <p:strVal val="visible"/>
                                      </p:to>
                                    </p:set>
                                    <p:animEffect filter="fade" transition="in">
                                      <p:cBhvr>
                                        <p:cTn dur="500"/>
                                        <p:tgtEl>
                                          <p:spTgt spid="11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2" name="Shape 122"/>
        <p:cNvGrpSpPr/>
        <p:nvPr/>
      </p:nvGrpSpPr>
      <p:grpSpPr>
        <a:xfrm>
          <a:off x="0" y="0"/>
          <a:ext cx="0" cy="0"/>
          <a:chOff x="0" y="0"/>
          <a:chExt cx="0" cy="0"/>
        </a:xfrm>
      </p:grpSpPr>
      <p:sp>
        <p:nvSpPr>
          <p:cNvPr id="123" name="Google Shape;123;p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2800"/>
              <a:buFont typeface="Constantia"/>
              <a:buNone/>
            </a:pPr>
            <a:r>
              <a:rPr lang="es-ES" sz="2800"/>
              <a:t>Ejemplo</a:t>
            </a:r>
            <a:endParaRPr sz="2800"/>
          </a:p>
        </p:txBody>
      </p:sp>
      <p:sp>
        <p:nvSpPr>
          <p:cNvPr id="124" name="Google Shape;124;p6"/>
          <p:cNvSpPr txBox="1"/>
          <p:nvPr>
            <p:ph idx="1" type="body"/>
          </p:nvPr>
        </p:nvSpPr>
        <p:spPr>
          <a:xfrm>
            <a:off x="457200" y="2500306"/>
            <a:ext cx="8229600" cy="3824294"/>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None/>
            </a:pPr>
            <a:r>
              <a:rPr lang="es-ES"/>
              <a:t>         Para formar parte de un “pool” de siembra es necesario invertir  $ 20.000. El acuerdo establece que se recibirán 5 ingresos semestrales de $ 8000, a partir del año, debiendo realizar un aporte de refuerzo de      $ 5.000 al concluir el 2º año. Si se pretende un rendimiento del 15 % anual, ¿es conveniente el negocio?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8" name="Shape 128"/>
        <p:cNvGrpSpPr/>
        <p:nvPr/>
      </p:nvGrpSpPr>
      <p:grpSpPr>
        <a:xfrm>
          <a:off x="0" y="0"/>
          <a:ext cx="0" cy="0"/>
          <a:chOff x="0" y="0"/>
          <a:chExt cx="0" cy="0"/>
        </a:xfrm>
      </p:grpSpPr>
      <p:sp>
        <p:nvSpPr>
          <p:cNvPr id="129" name="Google Shape;129;p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onstantia"/>
              <a:buNone/>
            </a:pPr>
            <a:r>
              <a:rPr lang="es-ES" sz="4000"/>
              <a:t>Método del Valor Anual Equivalente</a:t>
            </a:r>
            <a:endParaRPr sz="4000"/>
          </a:p>
        </p:txBody>
      </p:sp>
      <p:sp>
        <p:nvSpPr>
          <p:cNvPr id="130" name="Google Shape;130;p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rPr lang="es-ES"/>
              <a:t>     Convierte todos los flujos de dinero a una anualidad constante equivalente (o a una mensualidad).</a:t>
            </a:r>
            <a:endParaRPr/>
          </a:p>
          <a:p>
            <a:pPr indent="-274320"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rPr lang="es-ES"/>
              <a:t>        A = F  </a:t>
            </a:r>
            <a:r>
              <a:rPr lang="es-ES" u="sng"/>
              <a:t>         i       .</a:t>
            </a:r>
            <a:endParaRPr/>
          </a:p>
          <a:p>
            <a:pPr indent="-274320" lvl="0" marL="274320" rtl="0" algn="l">
              <a:spcBef>
                <a:spcPts val="520"/>
              </a:spcBef>
              <a:spcAft>
                <a:spcPts val="0"/>
              </a:spcAft>
              <a:buSzPts val="2470"/>
              <a:buNone/>
            </a:pPr>
            <a:r>
              <a:rPr lang="es-ES"/>
              <a:t>                     (1+i)</a:t>
            </a:r>
            <a:r>
              <a:rPr baseline="30000" lang="es-ES"/>
              <a:t>n</a:t>
            </a:r>
            <a:r>
              <a:rPr lang="es-ES"/>
              <a:t> - 1</a:t>
            </a:r>
            <a:endParaRPr/>
          </a:p>
          <a:p>
            <a:pPr indent="-274320"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rPr lang="es-ES"/>
              <a:t>       A  = P </a:t>
            </a:r>
            <a:r>
              <a:rPr lang="es-ES" u="sng"/>
              <a:t>(1+i)</a:t>
            </a:r>
            <a:r>
              <a:rPr baseline="30000" lang="es-ES" u="sng"/>
              <a:t>n</a:t>
            </a:r>
            <a:r>
              <a:rPr lang="es-ES" u="sng"/>
              <a:t> .  i  _     </a:t>
            </a:r>
            <a:endParaRPr/>
          </a:p>
          <a:p>
            <a:pPr indent="-274320" lvl="0" marL="274320" rtl="0" algn="l">
              <a:spcBef>
                <a:spcPts val="520"/>
              </a:spcBef>
              <a:spcAft>
                <a:spcPts val="0"/>
              </a:spcAft>
              <a:buSzPts val="2470"/>
              <a:buNone/>
            </a:pPr>
            <a:r>
              <a:rPr lang="es-ES"/>
              <a:t>                     (1+i)</a:t>
            </a:r>
            <a:r>
              <a:rPr baseline="30000" lang="es-ES"/>
              <a:t>n</a:t>
            </a:r>
            <a:r>
              <a:rPr lang="es-ES"/>
              <a:t> - 1</a:t>
            </a:r>
            <a:endParaRPr/>
          </a:p>
          <a:p>
            <a:pPr indent="-274320"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t/>
            </a:r>
            <a:endParaRPr/>
          </a:p>
        </p:txBody>
      </p:sp>
      <p:sp>
        <p:nvSpPr>
          <p:cNvPr id="131" name="Google Shape;131;p7"/>
          <p:cNvSpPr/>
          <p:nvPr/>
        </p:nvSpPr>
        <p:spPr>
          <a:xfrm>
            <a:off x="2000232" y="3500438"/>
            <a:ext cx="1643074" cy="1071570"/>
          </a:xfrm>
          <a:prstGeom prst="bracketPair">
            <a:avLst/>
          </a:prstGeom>
          <a:noFill/>
          <a:ln cap="flat" cmpd="sng" w="9525">
            <a:solidFill>
              <a:srgbClr val="4F748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Constantia"/>
              <a:ea typeface="Constantia"/>
              <a:cs typeface="Constantia"/>
              <a:sym typeface="Constantia"/>
            </a:endParaRPr>
          </a:p>
        </p:txBody>
      </p:sp>
      <p:sp>
        <p:nvSpPr>
          <p:cNvPr id="132" name="Google Shape;132;p7"/>
          <p:cNvSpPr/>
          <p:nvPr/>
        </p:nvSpPr>
        <p:spPr>
          <a:xfrm>
            <a:off x="2000232" y="5085184"/>
            <a:ext cx="1795474" cy="1051782"/>
          </a:xfrm>
          <a:prstGeom prst="bracketPair">
            <a:avLst/>
          </a:prstGeom>
          <a:noFill/>
          <a:ln cap="flat" cmpd="sng" w="9525">
            <a:solidFill>
              <a:srgbClr val="4F748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Constantia"/>
              <a:ea typeface="Constantia"/>
              <a:cs typeface="Constantia"/>
              <a:sym typeface="Constantia"/>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animEffect filter="fade" transition="in">
                                      <p:cBhvr>
                                        <p:cTn dur="500"/>
                                        <p:tgtEl>
                                          <p:spTgt spid="1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animEffect filter="fade" transition="in">
                                      <p:cBhvr>
                                        <p:cTn dur="500"/>
                                        <p:tgtEl>
                                          <p:spTgt spid="1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animEffect filter="fade" transition="in">
                                      <p:cBhvr>
                                        <p:cTn dur="500"/>
                                        <p:tgtEl>
                                          <p:spTgt spid="1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animEffect filter="fade" transition="in">
                                      <p:cBhvr>
                                        <p:cTn dur="500"/>
                                        <p:tgtEl>
                                          <p:spTgt spid="1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4" st="4"/>
                                            </p:txEl>
                                          </p:spTgt>
                                        </p:tgtEl>
                                        <p:attrNameLst>
                                          <p:attrName>style.visibility</p:attrName>
                                        </p:attrNameLst>
                                      </p:cBhvr>
                                      <p:to>
                                        <p:strVal val="visible"/>
                                      </p:to>
                                    </p:set>
                                    <p:animEffect filter="fade" transition="in">
                                      <p:cBhvr>
                                        <p:cTn dur="500"/>
                                        <p:tgtEl>
                                          <p:spTgt spid="1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5" st="5"/>
                                            </p:txEl>
                                          </p:spTgt>
                                        </p:tgtEl>
                                        <p:attrNameLst>
                                          <p:attrName>style.visibility</p:attrName>
                                        </p:attrNameLst>
                                      </p:cBhvr>
                                      <p:to>
                                        <p:strVal val="visible"/>
                                      </p:to>
                                    </p:set>
                                    <p:animEffect filter="fade" transition="in">
                                      <p:cBhvr>
                                        <p:cTn dur="500"/>
                                        <p:tgtEl>
                                          <p:spTgt spid="1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6" st="6"/>
                                            </p:txEl>
                                          </p:spTgt>
                                        </p:tgtEl>
                                        <p:attrNameLst>
                                          <p:attrName>style.visibility</p:attrName>
                                        </p:attrNameLst>
                                      </p:cBhvr>
                                      <p:to>
                                        <p:strVal val="visible"/>
                                      </p:to>
                                    </p:set>
                                    <p:animEffect filter="fade" transition="in">
                                      <p:cBhvr>
                                        <p:cTn dur="500"/>
                                        <p:tgtEl>
                                          <p:spTgt spid="13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7" st="7"/>
                                            </p:txEl>
                                          </p:spTgt>
                                        </p:tgtEl>
                                        <p:attrNameLst>
                                          <p:attrName>style.visibility</p:attrName>
                                        </p:attrNameLst>
                                      </p:cBhvr>
                                      <p:to>
                                        <p:strVal val="visible"/>
                                      </p:to>
                                    </p:set>
                                    <p:animEffect filter="fade" transition="in">
                                      <p:cBhvr>
                                        <p:cTn dur="500"/>
                                        <p:tgtEl>
                                          <p:spTgt spid="13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8" st="8"/>
                                            </p:txEl>
                                          </p:spTgt>
                                        </p:tgtEl>
                                        <p:attrNameLst>
                                          <p:attrName>style.visibility</p:attrName>
                                        </p:attrNameLst>
                                      </p:cBhvr>
                                      <p:to>
                                        <p:strVal val="visible"/>
                                      </p:to>
                                    </p:set>
                                    <p:animEffect filter="fade" transition="in">
                                      <p:cBhvr>
                                        <p:cTn dur="500"/>
                                        <p:tgtEl>
                                          <p:spTgt spid="13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9" st="9"/>
                                            </p:txEl>
                                          </p:spTgt>
                                        </p:tgtEl>
                                        <p:attrNameLst>
                                          <p:attrName>style.visibility</p:attrName>
                                        </p:attrNameLst>
                                      </p:cBhvr>
                                      <p:to>
                                        <p:strVal val="visible"/>
                                      </p:to>
                                    </p:set>
                                    <p:animEffect filter="fade" transition="in">
                                      <p:cBhvr>
                                        <p:cTn dur="500"/>
                                        <p:tgtEl>
                                          <p:spTgt spid="13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6" name="Shape 136"/>
        <p:cNvGrpSpPr/>
        <p:nvPr/>
      </p:nvGrpSpPr>
      <p:grpSpPr>
        <a:xfrm>
          <a:off x="0" y="0"/>
          <a:ext cx="0" cy="0"/>
          <a:chOff x="0" y="0"/>
          <a:chExt cx="0" cy="0"/>
        </a:xfrm>
      </p:grpSpPr>
      <p:sp>
        <p:nvSpPr>
          <p:cNvPr id="137" name="Google Shape;137;p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Constantia"/>
              <a:buNone/>
            </a:pPr>
            <a:r>
              <a:rPr lang="es-ES" sz="3200"/>
              <a:t>Ejemplo</a:t>
            </a:r>
            <a:endParaRPr sz="3200"/>
          </a:p>
        </p:txBody>
      </p:sp>
      <p:sp>
        <p:nvSpPr>
          <p:cNvPr id="138" name="Google Shape;138;p8"/>
          <p:cNvSpPr txBox="1"/>
          <p:nvPr>
            <p:ph idx="1" type="body"/>
          </p:nvPr>
        </p:nvSpPr>
        <p:spPr>
          <a:xfrm>
            <a:off x="457200" y="2857496"/>
            <a:ext cx="8229600" cy="3467104"/>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660"/>
              <a:buNone/>
            </a:pPr>
            <a:r>
              <a:rPr lang="es-ES" sz="2800"/>
              <a:t>    </a:t>
            </a:r>
            <a:r>
              <a:rPr lang="es-ES" sz="2400"/>
              <a:t>Una persona desea invertir en una empresa de transportes. Requiere un desembolso inicial de $ 90.000. La vida útil del proyecto es de 4 años. Los ingresos mensuales netos se estiman en $ 3.500, suponiendo un valor de rescate de los bienes de $ 8.000. Considerando una TREMA del 18 % anual, ¿se aconseja la inversión?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2" name="Shape 142"/>
        <p:cNvGrpSpPr/>
        <p:nvPr/>
      </p:nvGrpSpPr>
      <p:grpSpPr>
        <a:xfrm>
          <a:off x="0" y="0"/>
          <a:ext cx="0" cy="0"/>
          <a:chOff x="0" y="0"/>
          <a:chExt cx="0" cy="0"/>
        </a:xfrm>
      </p:grpSpPr>
      <p:sp>
        <p:nvSpPr>
          <p:cNvPr id="143" name="Google Shape;143;p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onstantia"/>
              <a:buNone/>
            </a:pPr>
            <a:r>
              <a:rPr lang="es-ES" sz="4000"/>
              <a:t>Método del Valor Futuro</a:t>
            </a:r>
            <a:endParaRPr sz="4000"/>
          </a:p>
        </p:txBody>
      </p:sp>
      <p:sp>
        <p:nvSpPr>
          <p:cNvPr id="144" name="Google Shape;144;p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rPr lang="es-ES"/>
              <a:t>    </a:t>
            </a:r>
            <a:endParaRPr/>
          </a:p>
          <a:p>
            <a:pPr indent="-274320" lvl="0" marL="274320" rtl="0" algn="l">
              <a:spcBef>
                <a:spcPts val="520"/>
              </a:spcBef>
              <a:spcAft>
                <a:spcPts val="0"/>
              </a:spcAft>
              <a:buSzPts val="2470"/>
              <a:buNone/>
            </a:pPr>
            <a:r>
              <a:rPr lang="es-ES"/>
              <a:t>       Transforma todos los flujos monetarios a una fecha específica futura.</a:t>
            </a:r>
            <a:endParaRPr/>
          </a:p>
          <a:p>
            <a:pPr indent="-274320" lvl="0" marL="274320" rtl="0" algn="l">
              <a:spcBef>
                <a:spcPts val="520"/>
              </a:spcBef>
              <a:spcAft>
                <a:spcPts val="0"/>
              </a:spcAft>
              <a:buSzPts val="2470"/>
              <a:buNone/>
            </a:pPr>
            <a:r>
              <a:t/>
            </a:r>
            <a:endParaRPr/>
          </a:p>
          <a:p>
            <a:pPr indent="-274320" lvl="0" marL="274320" rtl="0" algn="l">
              <a:lnSpc>
                <a:spcPct val="76923"/>
              </a:lnSpc>
              <a:spcBef>
                <a:spcPts val="520"/>
              </a:spcBef>
              <a:spcAft>
                <a:spcPts val="0"/>
              </a:spcAft>
              <a:buSzPts val="2470"/>
              <a:buNone/>
            </a:pPr>
            <a:r>
              <a:rPr lang="es-ES"/>
              <a:t>                         </a:t>
            </a:r>
            <a:r>
              <a:rPr lang="es-ES" sz="1400"/>
              <a:t>n</a:t>
            </a:r>
            <a:endParaRPr/>
          </a:p>
          <a:p>
            <a:pPr indent="-274320" lvl="0" marL="274320" rtl="0" algn="l">
              <a:lnSpc>
                <a:spcPct val="76923"/>
              </a:lnSpc>
              <a:spcBef>
                <a:spcPts val="520"/>
              </a:spcBef>
              <a:spcAft>
                <a:spcPts val="0"/>
              </a:spcAft>
              <a:buSzPts val="2470"/>
              <a:buNone/>
            </a:pPr>
            <a:r>
              <a:rPr lang="es-ES">
                <a:latin typeface="Times New Roman"/>
                <a:ea typeface="Times New Roman"/>
                <a:cs typeface="Times New Roman"/>
                <a:sym typeface="Times New Roman"/>
              </a:rPr>
              <a:t>             V.F. =  ∑ I</a:t>
            </a:r>
            <a:r>
              <a:rPr baseline="-25000" lang="es-ES">
                <a:latin typeface="Times New Roman"/>
                <a:ea typeface="Times New Roman"/>
                <a:cs typeface="Times New Roman"/>
                <a:sym typeface="Times New Roman"/>
              </a:rPr>
              <a:t>t </a:t>
            </a:r>
            <a:r>
              <a:rPr lang="es-ES">
                <a:latin typeface="Times New Roman"/>
                <a:ea typeface="Times New Roman"/>
                <a:cs typeface="Times New Roman"/>
                <a:sym typeface="Times New Roman"/>
              </a:rPr>
              <a:t> (1+ i)</a:t>
            </a:r>
            <a:r>
              <a:rPr baseline="30000" lang="es-ES">
                <a:latin typeface="Times New Roman"/>
                <a:ea typeface="Times New Roman"/>
                <a:cs typeface="Times New Roman"/>
                <a:sym typeface="Times New Roman"/>
              </a:rPr>
              <a:t>t</a:t>
            </a:r>
            <a:endParaRPr baseline="30000">
              <a:latin typeface="Times New Roman"/>
              <a:ea typeface="Times New Roman"/>
              <a:cs typeface="Times New Roman"/>
              <a:sym typeface="Times New Roman"/>
            </a:endParaRPr>
          </a:p>
          <a:p>
            <a:pPr indent="-274320" lvl="0" marL="274320" rtl="0" algn="l">
              <a:lnSpc>
                <a:spcPct val="76923"/>
              </a:lnSpc>
              <a:spcBef>
                <a:spcPts val="520"/>
              </a:spcBef>
              <a:spcAft>
                <a:spcPts val="0"/>
              </a:spcAft>
              <a:buSzPts val="2470"/>
              <a:buNone/>
            </a:pPr>
            <a:r>
              <a:rPr baseline="30000" lang="es-ES">
                <a:latin typeface="Times New Roman"/>
                <a:ea typeface="Times New Roman"/>
                <a:cs typeface="Times New Roman"/>
                <a:sym typeface="Times New Roman"/>
              </a:rPr>
              <a:t>                                    t=1 </a:t>
            </a:r>
            <a:endParaRPr baseline="30000">
              <a:latin typeface="Times New Roman"/>
              <a:ea typeface="Times New Roman"/>
              <a:cs typeface="Times New Roman"/>
              <a:sym typeface="Times New Roman"/>
            </a:endParaRPr>
          </a:p>
          <a:p>
            <a:pPr indent="-274320" lvl="0" marL="274320" rtl="0" algn="l">
              <a:lnSpc>
                <a:spcPct val="76923"/>
              </a:lnSpc>
              <a:spcBef>
                <a:spcPts val="520"/>
              </a:spcBef>
              <a:spcAft>
                <a:spcPts val="0"/>
              </a:spcAft>
              <a:buSzPts val="2470"/>
              <a:buNone/>
            </a:pPr>
            <a:r>
              <a:t/>
            </a:r>
            <a:endParaRPr baseline="30000">
              <a:latin typeface="Times New Roman"/>
              <a:ea typeface="Times New Roman"/>
              <a:cs typeface="Times New Roman"/>
              <a:sym typeface="Times New Roman"/>
            </a:endParaRPr>
          </a:p>
          <a:p>
            <a:pPr indent="-274320" lvl="0" marL="274320" rtl="0" algn="l">
              <a:lnSpc>
                <a:spcPct val="76923"/>
              </a:lnSpc>
              <a:spcBef>
                <a:spcPts val="520"/>
              </a:spcBef>
              <a:spcAft>
                <a:spcPts val="0"/>
              </a:spcAft>
              <a:buSzPts val="2470"/>
              <a:buNone/>
            </a:pPr>
            <a:r>
              <a:rPr baseline="30000" lang="es-ES">
                <a:latin typeface="Times New Roman"/>
                <a:ea typeface="Times New Roman"/>
                <a:cs typeface="Times New Roman"/>
                <a:sym typeface="Times New Roman"/>
              </a:rPr>
              <a:t>  </a:t>
            </a:r>
            <a:r>
              <a:rPr lang="es-ES">
                <a:latin typeface="Times New Roman"/>
                <a:ea typeface="Times New Roman"/>
                <a:cs typeface="Times New Roman"/>
                <a:sym typeface="Times New Roman"/>
              </a:rPr>
              <a:t>  F = P </a:t>
            </a:r>
            <a:r>
              <a:rPr lang="es-ES"/>
              <a:t>(1+i)</a:t>
            </a:r>
            <a:r>
              <a:rPr baseline="30000" lang="es-ES"/>
              <a:t>n</a:t>
            </a:r>
            <a:r>
              <a:rPr lang="es-ES"/>
              <a:t> </a:t>
            </a:r>
            <a:r>
              <a:rPr baseline="30000" lang="es-ES">
                <a:latin typeface="Times New Roman"/>
                <a:ea typeface="Times New Roman"/>
                <a:cs typeface="Times New Roman"/>
                <a:sym typeface="Times New Roman"/>
              </a:rPr>
              <a:t>            </a:t>
            </a:r>
            <a:r>
              <a:rPr lang="es-ES">
                <a:latin typeface="Times New Roman"/>
                <a:ea typeface="Times New Roman"/>
                <a:cs typeface="Times New Roman"/>
                <a:sym typeface="Times New Roman"/>
              </a:rPr>
              <a:t>  F= A   </a:t>
            </a:r>
            <a:r>
              <a:rPr lang="es-ES" u="sng"/>
              <a:t>(1+i)</a:t>
            </a:r>
            <a:r>
              <a:rPr baseline="30000" lang="es-ES" u="sng"/>
              <a:t>n</a:t>
            </a:r>
            <a:r>
              <a:rPr lang="es-ES" u="sng"/>
              <a:t> - 1</a:t>
            </a:r>
            <a:endParaRPr/>
          </a:p>
          <a:p>
            <a:pPr indent="-274320" lvl="0" marL="274320" rtl="0" algn="l">
              <a:lnSpc>
                <a:spcPct val="76923"/>
              </a:lnSpc>
              <a:spcBef>
                <a:spcPts val="520"/>
              </a:spcBef>
              <a:spcAft>
                <a:spcPts val="0"/>
              </a:spcAft>
              <a:buSzPts val="2470"/>
              <a:buNone/>
            </a:pPr>
            <a:r>
              <a:rPr lang="es-ES">
                <a:latin typeface="Times New Roman"/>
                <a:ea typeface="Times New Roman"/>
                <a:cs typeface="Times New Roman"/>
                <a:sym typeface="Times New Roman"/>
              </a:rPr>
              <a:t>               </a:t>
            </a:r>
            <a:r>
              <a:rPr baseline="30000" lang="es-ES">
                <a:latin typeface="Times New Roman"/>
                <a:ea typeface="Times New Roman"/>
                <a:cs typeface="Times New Roman"/>
                <a:sym typeface="Times New Roman"/>
              </a:rPr>
              <a:t>                                                      </a:t>
            </a:r>
            <a:r>
              <a:rPr lang="es-ES"/>
              <a:t>i</a:t>
            </a:r>
            <a:endParaRPr>
              <a:latin typeface="Times New Roman"/>
              <a:ea typeface="Times New Roman"/>
              <a:cs typeface="Times New Roman"/>
              <a:sym typeface="Times New Roman"/>
            </a:endParaRPr>
          </a:p>
        </p:txBody>
      </p:sp>
      <p:sp>
        <p:nvSpPr>
          <p:cNvPr id="145" name="Google Shape;145;p9"/>
          <p:cNvSpPr/>
          <p:nvPr/>
        </p:nvSpPr>
        <p:spPr>
          <a:xfrm>
            <a:off x="3995936" y="4725144"/>
            <a:ext cx="1584176" cy="1152128"/>
          </a:xfrm>
          <a:prstGeom prst="bracketPair">
            <a:avLst/>
          </a:prstGeom>
          <a:noFill/>
          <a:ln cap="flat" cmpd="sng" w="9525">
            <a:solidFill>
              <a:srgbClr val="4F748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Constantia"/>
              <a:ea typeface="Constantia"/>
              <a:cs typeface="Constantia"/>
              <a:sym typeface="Constant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9" name="Shape 149"/>
        <p:cNvGrpSpPr/>
        <p:nvPr/>
      </p:nvGrpSpPr>
      <p:grpSpPr>
        <a:xfrm>
          <a:off x="0" y="0"/>
          <a:ext cx="0" cy="0"/>
          <a:chOff x="0" y="0"/>
          <a:chExt cx="0" cy="0"/>
        </a:xfrm>
      </p:grpSpPr>
      <p:sp>
        <p:nvSpPr>
          <p:cNvPr id="150" name="Google Shape;150;p1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Constantia"/>
              <a:buNone/>
            </a:pPr>
            <a:r>
              <a:rPr lang="es-ES" sz="3200"/>
              <a:t>Ejemplo</a:t>
            </a:r>
            <a:endParaRPr sz="3200"/>
          </a:p>
        </p:txBody>
      </p:sp>
      <p:sp>
        <p:nvSpPr>
          <p:cNvPr id="151" name="Google Shape;151;p10"/>
          <p:cNvSpPr txBox="1"/>
          <p:nvPr>
            <p:ph idx="1" type="body"/>
          </p:nvPr>
        </p:nvSpPr>
        <p:spPr>
          <a:xfrm>
            <a:off x="457200" y="2357430"/>
            <a:ext cx="8229600" cy="396717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None/>
            </a:pPr>
            <a:r>
              <a:rPr lang="es-ES"/>
              <a:t>       Se estudia elaborar un nuevo producto. Debería desembolsarse $ 35.000 para comprar la máquina necesaria y sus complementos. Se calcula un costo operativo mensual de $ 3.500 e ingresos anuales de      $ 58.000. La vida útil es de 5 años y el valor de recupero nulo. Si la tasa pretendida es del 10 % anual, ¿se lleva a cabo el proyecto?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5" name="Shape 155"/>
        <p:cNvGrpSpPr/>
        <p:nvPr/>
      </p:nvGrpSpPr>
      <p:grpSpPr>
        <a:xfrm>
          <a:off x="0" y="0"/>
          <a:ext cx="0" cy="0"/>
          <a:chOff x="0" y="0"/>
          <a:chExt cx="0" cy="0"/>
        </a:xfrm>
      </p:grpSpPr>
      <p:sp>
        <p:nvSpPr>
          <p:cNvPr id="156" name="Google Shape;156;p1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onstantia"/>
              <a:buNone/>
            </a:pPr>
            <a:r>
              <a:rPr lang="es-ES" sz="3600"/>
              <a:t>Método de la tasa interna de rendimiento</a:t>
            </a:r>
            <a:endParaRPr sz="3600"/>
          </a:p>
        </p:txBody>
      </p:sp>
      <p:sp>
        <p:nvSpPr>
          <p:cNvPr id="157" name="Google Shape;157;p11"/>
          <p:cNvSpPr txBox="1"/>
          <p:nvPr>
            <p:ph idx="1" type="body"/>
          </p:nvPr>
        </p:nvSpPr>
        <p:spPr>
          <a:xfrm>
            <a:off x="457200" y="2285992"/>
            <a:ext cx="8229600" cy="4572008"/>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rPr lang="es-ES"/>
              <a:t>     Consiste en igualar a cero la sumatoria de flujos, en cualquiera de los procedimientos anteriores.</a:t>
            </a:r>
            <a:endParaRPr/>
          </a:p>
          <a:p>
            <a:pPr indent="-274320" lvl="0" marL="274320" rtl="0" algn="l">
              <a:spcBef>
                <a:spcPts val="520"/>
              </a:spcBef>
              <a:spcAft>
                <a:spcPts val="0"/>
              </a:spcAft>
              <a:buSzPts val="2470"/>
              <a:buNone/>
            </a:pPr>
            <a:r>
              <a:t/>
            </a:r>
            <a:endParaRPr/>
          </a:p>
          <a:p>
            <a:pPr indent="-274320" lvl="0" marL="274320" rtl="0" algn="l">
              <a:spcBef>
                <a:spcPts val="280"/>
              </a:spcBef>
              <a:spcAft>
                <a:spcPts val="0"/>
              </a:spcAft>
              <a:buSzPts val="1330"/>
              <a:buNone/>
            </a:pPr>
            <a:r>
              <a:rPr lang="es-ES" sz="1400"/>
              <a:t>                                               n</a:t>
            </a:r>
            <a:endParaRPr/>
          </a:p>
          <a:p>
            <a:pPr indent="-274320" lvl="0" marL="274320" rtl="0" algn="l">
              <a:lnSpc>
                <a:spcPct val="76923"/>
              </a:lnSpc>
              <a:spcBef>
                <a:spcPts val="520"/>
              </a:spcBef>
              <a:spcAft>
                <a:spcPts val="0"/>
              </a:spcAft>
              <a:buSzPts val="2470"/>
              <a:buNone/>
            </a:pPr>
            <a:r>
              <a:rPr lang="es-ES">
                <a:latin typeface="Times New Roman"/>
                <a:ea typeface="Times New Roman"/>
                <a:cs typeface="Times New Roman"/>
                <a:sym typeface="Times New Roman"/>
              </a:rPr>
              <a:t>             V.F. =  ∑ I</a:t>
            </a:r>
            <a:r>
              <a:rPr baseline="-25000" lang="es-ES">
                <a:latin typeface="Times New Roman"/>
                <a:ea typeface="Times New Roman"/>
                <a:cs typeface="Times New Roman"/>
                <a:sym typeface="Times New Roman"/>
              </a:rPr>
              <a:t>t </a:t>
            </a:r>
            <a:r>
              <a:rPr lang="es-ES">
                <a:latin typeface="Times New Roman"/>
                <a:ea typeface="Times New Roman"/>
                <a:cs typeface="Times New Roman"/>
                <a:sym typeface="Times New Roman"/>
              </a:rPr>
              <a:t> (1+ </a:t>
            </a:r>
            <a:r>
              <a:rPr lang="es-ES" sz="2000">
                <a:latin typeface="Times New Roman"/>
                <a:ea typeface="Times New Roman"/>
                <a:cs typeface="Times New Roman"/>
                <a:sym typeface="Times New Roman"/>
              </a:rPr>
              <a:t>TIR</a:t>
            </a:r>
            <a:r>
              <a:rPr lang="es-ES">
                <a:latin typeface="Times New Roman"/>
                <a:ea typeface="Times New Roman"/>
                <a:cs typeface="Times New Roman"/>
                <a:sym typeface="Times New Roman"/>
              </a:rPr>
              <a:t>)</a:t>
            </a:r>
            <a:r>
              <a:rPr baseline="30000" lang="es-ES">
                <a:latin typeface="Times New Roman"/>
                <a:ea typeface="Times New Roman"/>
                <a:cs typeface="Times New Roman"/>
                <a:sym typeface="Times New Roman"/>
              </a:rPr>
              <a:t>t </a:t>
            </a:r>
            <a:r>
              <a:rPr lang="es-ES">
                <a:latin typeface="Times New Roman"/>
                <a:ea typeface="Times New Roman"/>
                <a:cs typeface="Times New Roman"/>
                <a:sym typeface="Times New Roman"/>
              </a:rPr>
              <a:t> = 0</a:t>
            </a:r>
            <a:endParaRPr baseline="30000">
              <a:latin typeface="Times New Roman"/>
              <a:ea typeface="Times New Roman"/>
              <a:cs typeface="Times New Roman"/>
              <a:sym typeface="Times New Roman"/>
            </a:endParaRPr>
          </a:p>
          <a:p>
            <a:pPr indent="-274320" lvl="0" marL="274320" rtl="0" algn="l">
              <a:lnSpc>
                <a:spcPct val="76923"/>
              </a:lnSpc>
              <a:spcBef>
                <a:spcPts val="520"/>
              </a:spcBef>
              <a:spcAft>
                <a:spcPts val="0"/>
              </a:spcAft>
              <a:buSzPts val="2470"/>
              <a:buNone/>
            </a:pPr>
            <a:r>
              <a:rPr baseline="30000" lang="es-ES">
                <a:latin typeface="Times New Roman"/>
                <a:ea typeface="Times New Roman"/>
                <a:cs typeface="Times New Roman"/>
                <a:sym typeface="Times New Roman"/>
              </a:rPr>
              <a:t>                                    t=1 </a:t>
            </a:r>
            <a:endParaRPr/>
          </a:p>
          <a:p>
            <a:pPr indent="-274320" lvl="0" marL="274320" rtl="0" algn="just">
              <a:lnSpc>
                <a:spcPct val="62500"/>
              </a:lnSpc>
              <a:spcBef>
                <a:spcPts val="640"/>
              </a:spcBef>
              <a:spcAft>
                <a:spcPts val="0"/>
              </a:spcAft>
              <a:buSzPts val="3040"/>
              <a:buNone/>
            </a:pPr>
            <a:r>
              <a:t/>
            </a:r>
            <a:endParaRPr baseline="30000" i="1" sz="3200">
              <a:solidFill>
                <a:srgbClr val="998307"/>
              </a:solidFill>
            </a:endParaRPr>
          </a:p>
          <a:p>
            <a:pPr indent="-274320" lvl="0" marL="274320" rtl="0" algn="just">
              <a:lnSpc>
                <a:spcPct val="62500"/>
              </a:lnSpc>
              <a:spcBef>
                <a:spcPts val="640"/>
              </a:spcBef>
              <a:spcAft>
                <a:spcPts val="0"/>
              </a:spcAft>
              <a:buSzPts val="3040"/>
              <a:buNone/>
            </a:pPr>
            <a:r>
              <a:rPr baseline="30000" i="1" lang="es-ES" sz="3200">
                <a:solidFill>
                  <a:srgbClr val="998307"/>
                </a:solidFill>
              </a:rPr>
              <a:t>         Comparando la TIR con la TREMA o con cualquier tasa de interés que se adopte  para el cálculo, se puede determinar la factibilidad o no del proyecto:</a:t>
            </a:r>
            <a:endParaRPr/>
          </a:p>
          <a:p>
            <a:pPr indent="-274320" lvl="0" marL="274320" rtl="0" algn="just">
              <a:lnSpc>
                <a:spcPct val="62500"/>
              </a:lnSpc>
              <a:spcBef>
                <a:spcPts val="640"/>
              </a:spcBef>
              <a:spcAft>
                <a:spcPts val="0"/>
              </a:spcAft>
              <a:buSzPts val="3040"/>
              <a:buNone/>
            </a:pPr>
            <a:r>
              <a:rPr baseline="30000" i="1" lang="es-ES" sz="3200">
                <a:solidFill>
                  <a:srgbClr val="998307"/>
                </a:solidFill>
              </a:rPr>
              <a:t>               - Si la TIR resulta mayor se acepta (tasa mayor a la esperada)</a:t>
            </a:r>
            <a:endParaRPr/>
          </a:p>
          <a:p>
            <a:pPr indent="-274320" lvl="0" marL="274320" rtl="0" algn="just">
              <a:lnSpc>
                <a:spcPct val="62500"/>
              </a:lnSpc>
              <a:spcBef>
                <a:spcPts val="640"/>
              </a:spcBef>
              <a:spcAft>
                <a:spcPts val="0"/>
              </a:spcAft>
              <a:buSzPts val="3040"/>
              <a:buNone/>
            </a:pPr>
            <a:r>
              <a:rPr baseline="30000" i="1" lang="es-ES" sz="3200">
                <a:solidFill>
                  <a:srgbClr val="998307"/>
                </a:solidFill>
              </a:rPr>
              <a:t>               - Si la TIR es menor se rechaza</a:t>
            </a:r>
            <a:endParaRPr/>
          </a:p>
          <a:p>
            <a:pPr indent="-274320" lvl="0" marL="274320" rtl="0" algn="l">
              <a:lnSpc>
                <a:spcPct val="62500"/>
              </a:lnSpc>
              <a:spcBef>
                <a:spcPts val="640"/>
              </a:spcBef>
              <a:spcAft>
                <a:spcPts val="0"/>
              </a:spcAft>
              <a:buSzPts val="3040"/>
              <a:buNone/>
            </a:pPr>
            <a:r>
              <a:rPr baseline="30000" lang="es-ES" sz="3200"/>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0" st="0"/>
                                            </p:txEl>
                                          </p:spTgt>
                                        </p:tgtEl>
                                        <p:attrNameLst>
                                          <p:attrName>style.visibility</p:attrName>
                                        </p:attrNameLst>
                                      </p:cBhvr>
                                      <p:to>
                                        <p:strVal val="visible"/>
                                      </p:to>
                                    </p:set>
                                    <p:animEffect filter="fade" transition="in">
                                      <p:cBhvr>
                                        <p:cTn dur="500"/>
                                        <p:tgtEl>
                                          <p:spTgt spid="1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1" st="1"/>
                                            </p:txEl>
                                          </p:spTgt>
                                        </p:tgtEl>
                                        <p:attrNameLst>
                                          <p:attrName>style.visibility</p:attrName>
                                        </p:attrNameLst>
                                      </p:cBhvr>
                                      <p:to>
                                        <p:strVal val="visible"/>
                                      </p:to>
                                    </p:set>
                                    <p:animEffect filter="fade" transition="in">
                                      <p:cBhvr>
                                        <p:cTn dur="500"/>
                                        <p:tgtEl>
                                          <p:spTgt spid="1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2" st="2"/>
                                            </p:txEl>
                                          </p:spTgt>
                                        </p:tgtEl>
                                        <p:attrNameLst>
                                          <p:attrName>style.visibility</p:attrName>
                                        </p:attrNameLst>
                                      </p:cBhvr>
                                      <p:to>
                                        <p:strVal val="visible"/>
                                      </p:to>
                                    </p:set>
                                    <p:animEffect filter="fade" transition="in">
                                      <p:cBhvr>
                                        <p:cTn dur="500"/>
                                        <p:tgtEl>
                                          <p:spTgt spid="1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3" st="3"/>
                                            </p:txEl>
                                          </p:spTgt>
                                        </p:tgtEl>
                                        <p:attrNameLst>
                                          <p:attrName>style.visibility</p:attrName>
                                        </p:attrNameLst>
                                      </p:cBhvr>
                                      <p:to>
                                        <p:strVal val="visible"/>
                                      </p:to>
                                    </p:set>
                                    <p:animEffect filter="fade" transition="in">
                                      <p:cBhvr>
                                        <p:cTn dur="500"/>
                                        <p:tgtEl>
                                          <p:spTgt spid="1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4" st="4"/>
                                            </p:txEl>
                                          </p:spTgt>
                                        </p:tgtEl>
                                        <p:attrNameLst>
                                          <p:attrName>style.visibility</p:attrName>
                                        </p:attrNameLst>
                                      </p:cBhvr>
                                      <p:to>
                                        <p:strVal val="visible"/>
                                      </p:to>
                                    </p:set>
                                    <p:animEffect filter="fade" transition="in">
                                      <p:cBhvr>
                                        <p:cTn dur="500"/>
                                        <p:tgtEl>
                                          <p:spTgt spid="1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5" st="5"/>
                                            </p:txEl>
                                          </p:spTgt>
                                        </p:tgtEl>
                                        <p:attrNameLst>
                                          <p:attrName>style.visibility</p:attrName>
                                        </p:attrNameLst>
                                      </p:cBhvr>
                                      <p:to>
                                        <p:strVal val="visible"/>
                                      </p:to>
                                    </p:set>
                                    <p:animEffect filter="fade" transition="in">
                                      <p:cBhvr>
                                        <p:cTn dur="500"/>
                                        <p:tgtEl>
                                          <p:spTgt spid="1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6" st="6"/>
                                            </p:txEl>
                                          </p:spTgt>
                                        </p:tgtEl>
                                        <p:attrNameLst>
                                          <p:attrName>style.visibility</p:attrName>
                                        </p:attrNameLst>
                                      </p:cBhvr>
                                      <p:to>
                                        <p:strVal val="visible"/>
                                      </p:to>
                                    </p:set>
                                    <p:animEffect filter="fade" transition="in">
                                      <p:cBhvr>
                                        <p:cTn dur="500"/>
                                        <p:tgtEl>
                                          <p:spTgt spid="15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7" st="7"/>
                                            </p:txEl>
                                          </p:spTgt>
                                        </p:tgtEl>
                                        <p:attrNameLst>
                                          <p:attrName>style.visibility</p:attrName>
                                        </p:attrNameLst>
                                      </p:cBhvr>
                                      <p:to>
                                        <p:strVal val="visible"/>
                                      </p:to>
                                    </p:set>
                                    <p:animEffect filter="fade" transition="in">
                                      <p:cBhvr>
                                        <p:cTn dur="500"/>
                                        <p:tgtEl>
                                          <p:spTgt spid="15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8" st="8"/>
                                            </p:txEl>
                                          </p:spTgt>
                                        </p:tgtEl>
                                        <p:attrNameLst>
                                          <p:attrName>style.visibility</p:attrName>
                                        </p:attrNameLst>
                                      </p:cBhvr>
                                      <p:to>
                                        <p:strVal val="visible"/>
                                      </p:to>
                                    </p:set>
                                    <p:animEffect filter="fade" transition="in">
                                      <p:cBhvr>
                                        <p:cTn dur="500"/>
                                        <p:tgtEl>
                                          <p:spTgt spid="15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9" st="9"/>
                                            </p:txEl>
                                          </p:spTgt>
                                        </p:tgtEl>
                                        <p:attrNameLst>
                                          <p:attrName>style.visibility</p:attrName>
                                        </p:attrNameLst>
                                      </p:cBhvr>
                                      <p:to>
                                        <p:strVal val="visible"/>
                                      </p:to>
                                    </p:set>
                                    <p:animEffect filter="fade" transition="in">
                                      <p:cBhvr>
                                        <p:cTn dur="500"/>
                                        <p:tgtEl>
                                          <p:spTgt spid="157">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1" name="Shape 161"/>
        <p:cNvGrpSpPr/>
        <p:nvPr/>
      </p:nvGrpSpPr>
      <p:grpSpPr>
        <a:xfrm>
          <a:off x="0" y="0"/>
          <a:ext cx="0" cy="0"/>
          <a:chOff x="0" y="0"/>
          <a:chExt cx="0" cy="0"/>
        </a:xfrm>
      </p:grpSpPr>
      <p:sp>
        <p:nvSpPr>
          <p:cNvPr id="162" name="Google Shape;162;p1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Constantia"/>
              <a:buNone/>
            </a:pPr>
            <a:r>
              <a:rPr lang="es-ES" sz="3200"/>
              <a:t>Ejemplo</a:t>
            </a:r>
            <a:endParaRPr sz="3200"/>
          </a:p>
        </p:txBody>
      </p:sp>
      <p:sp>
        <p:nvSpPr>
          <p:cNvPr id="163" name="Google Shape;163;p1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None/>
            </a:pPr>
            <a:r>
              <a:rPr lang="es-ES"/>
              <a:t>        Se necesita realizar un desembolso inicial de             $ 150.000 para participar en un evento internacional. Se calcula que se percibirán ingresos netos de $ 30.000 al finalizar el primer mes, $ 50.000 al término del segundo mes y $ 120.000 al concluir el tercer mes. Determinar si es conveniente el emprendimiento si se aspira lograr un rendimiento del 10 % anual.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7" name="Shape 167"/>
        <p:cNvGrpSpPr/>
        <p:nvPr/>
      </p:nvGrpSpPr>
      <p:grpSpPr>
        <a:xfrm>
          <a:off x="0" y="0"/>
          <a:ext cx="0" cy="0"/>
          <a:chOff x="0" y="0"/>
          <a:chExt cx="0" cy="0"/>
        </a:xfrm>
      </p:grpSpPr>
      <p:sp>
        <p:nvSpPr>
          <p:cNvPr id="168" name="Google Shape;168;p1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onstantia"/>
              <a:buNone/>
            </a:pPr>
            <a:r>
              <a:rPr lang="es-ES" sz="4000"/>
              <a:t>Método del período de retorno</a:t>
            </a:r>
            <a:endParaRPr sz="4000"/>
          </a:p>
        </p:txBody>
      </p:sp>
      <p:sp>
        <p:nvSpPr>
          <p:cNvPr id="169" name="Google Shape;169;p13"/>
          <p:cNvSpPr txBox="1"/>
          <p:nvPr>
            <p:ph idx="1" type="body"/>
          </p:nvPr>
        </p:nvSpPr>
        <p:spPr>
          <a:xfrm>
            <a:off x="457200" y="2571744"/>
            <a:ext cx="8229600" cy="3752856"/>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None/>
            </a:pPr>
            <a:r>
              <a:rPr lang="es-ES"/>
              <a:t>     A esta técnica también se la reconoce con los nombres de “período de repago” “plazo de recuperación de la inversión” o “</a:t>
            </a:r>
            <a:r>
              <a:rPr i="1" lang="es-ES"/>
              <a:t>pay out”.</a:t>
            </a:r>
            <a:endParaRPr/>
          </a:p>
          <a:p>
            <a:pPr indent="-274320" lvl="0" marL="274320" rtl="0" algn="just">
              <a:spcBef>
                <a:spcPts val="520"/>
              </a:spcBef>
              <a:spcAft>
                <a:spcPts val="0"/>
              </a:spcAft>
              <a:buSzPts val="2470"/>
              <a:buNone/>
            </a:pPr>
            <a:r>
              <a:rPr i="1" lang="es-ES"/>
              <a:t>      </a:t>
            </a:r>
            <a:r>
              <a:rPr lang="es-ES"/>
              <a:t>Se fundamenta en calcular el tiempo que transcurre en recuperar el capital invertido, considerando únicamente los valores nominales.</a:t>
            </a:r>
            <a:endParaRPr/>
          </a:p>
          <a:p>
            <a:pPr indent="-274320" lvl="0" marL="274320" rtl="0" algn="l">
              <a:spcBef>
                <a:spcPts val="520"/>
              </a:spcBef>
              <a:spcAft>
                <a:spcPts val="0"/>
              </a:spcAft>
              <a:buSzPts val="247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animEffect filter="fade" transition="in">
                                      <p:cBhvr>
                                        <p:cTn dur="2000"/>
                                        <p:tgtEl>
                                          <p:spTgt spid="1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xEl>
                                              <p:pRg end="1" st="1"/>
                                            </p:txEl>
                                          </p:spTgt>
                                        </p:tgtEl>
                                        <p:attrNameLst>
                                          <p:attrName>style.visibility</p:attrName>
                                        </p:attrNameLst>
                                      </p:cBhvr>
                                      <p:to>
                                        <p:strVal val="visible"/>
                                      </p:to>
                                    </p:set>
                                    <p:animEffect filter="fade" transition="in">
                                      <p:cBhvr>
                                        <p:cTn dur="2000"/>
                                        <p:tgtEl>
                                          <p:spTgt spid="1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xEl>
                                              <p:pRg end="2" st="2"/>
                                            </p:txEl>
                                          </p:spTgt>
                                        </p:tgtEl>
                                        <p:attrNameLst>
                                          <p:attrName>style.visibility</p:attrName>
                                        </p:attrNameLst>
                                      </p:cBhvr>
                                      <p:to>
                                        <p:strVal val="visible"/>
                                      </p:to>
                                    </p:set>
                                    <p:animEffect filter="fade" transition="in">
                                      <p:cBhvr>
                                        <p:cTn dur="2000"/>
                                        <p:tgtEl>
                                          <p:spTgt spid="16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3" name="Shape 173"/>
        <p:cNvGrpSpPr/>
        <p:nvPr/>
      </p:nvGrpSpPr>
      <p:grpSpPr>
        <a:xfrm>
          <a:off x="0" y="0"/>
          <a:ext cx="0" cy="0"/>
          <a:chOff x="0" y="0"/>
          <a:chExt cx="0" cy="0"/>
        </a:xfrm>
      </p:grpSpPr>
      <p:sp>
        <p:nvSpPr>
          <p:cNvPr id="174" name="Google Shape;174;p14"/>
          <p:cNvSpPr txBox="1"/>
          <p:nvPr>
            <p:ph type="title"/>
          </p:nvPr>
        </p:nvSpPr>
        <p:spPr>
          <a:xfrm>
            <a:off x="457200" y="704088"/>
            <a:ext cx="8229600" cy="724648"/>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onstantia"/>
              <a:buNone/>
            </a:pPr>
            <a:r>
              <a:rPr lang="es-ES" sz="4000"/>
              <a:t>Selección de alternativas</a:t>
            </a:r>
            <a:endParaRPr sz="4000"/>
          </a:p>
        </p:txBody>
      </p:sp>
      <p:sp>
        <p:nvSpPr>
          <p:cNvPr id="175" name="Google Shape;175;p14"/>
          <p:cNvSpPr txBox="1"/>
          <p:nvPr>
            <p:ph idx="1" type="body"/>
          </p:nvPr>
        </p:nvSpPr>
        <p:spPr>
          <a:xfrm>
            <a:off x="457200" y="1928802"/>
            <a:ext cx="8229600" cy="4395798"/>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None/>
            </a:pPr>
            <a:r>
              <a:rPr lang="es-ES"/>
              <a:t>       Cuando compiten más de un proyecto para afrontar un caso específico, hay que optar por uno de ellos. La decisión será función de múltiples factores. Si se pondera sólo lo económico, el proyecto elegido será el que presente mayor rentabilidad o menores pérdidas.</a:t>
            </a:r>
            <a:endParaRPr/>
          </a:p>
          <a:p>
            <a:pPr indent="-274320" lvl="0" marL="274320" rtl="0" algn="just">
              <a:spcBef>
                <a:spcPts val="520"/>
              </a:spcBef>
              <a:spcAft>
                <a:spcPts val="0"/>
              </a:spcAft>
              <a:buSzPts val="2470"/>
              <a:buNone/>
            </a:pPr>
            <a:r>
              <a:rPr lang="es-ES"/>
              <a:t>        El método de cálculo será adoptado por el evaluador, según su criterio.</a:t>
            </a:r>
            <a:endParaRPr/>
          </a:p>
          <a:p>
            <a:pPr indent="-274320" lvl="0" marL="274320" rtl="0" algn="just">
              <a:spcBef>
                <a:spcPts val="520"/>
              </a:spcBef>
              <a:spcAft>
                <a:spcPts val="0"/>
              </a:spcAft>
              <a:buSzPts val="2470"/>
              <a:buNone/>
            </a:pPr>
            <a:r>
              <a:rPr lang="es-ES"/>
              <a:t>        Cuando el tiempo de vida de los proyectos rivales es diferente, para poder hacer el contraste deben igualarse las duraciones, o acortar el más prolongado.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animEffect filter="fade" transition="in">
                                      <p:cBhvr>
                                        <p:cTn dur="500"/>
                                        <p:tgtEl>
                                          <p:spTgt spid="1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1" st="1"/>
                                            </p:txEl>
                                          </p:spTgt>
                                        </p:tgtEl>
                                        <p:attrNameLst>
                                          <p:attrName>style.visibility</p:attrName>
                                        </p:attrNameLst>
                                      </p:cBhvr>
                                      <p:to>
                                        <p:strVal val="visible"/>
                                      </p:to>
                                    </p:set>
                                    <p:animEffect filter="fade" transition="in">
                                      <p:cBhvr>
                                        <p:cTn dur="500"/>
                                        <p:tgtEl>
                                          <p:spTgt spid="1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2" st="2"/>
                                            </p:txEl>
                                          </p:spTgt>
                                        </p:tgtEl>
                                        <p:attrNameLst>
                                          <p:attrName>style.visibility</p:attrName>
                                        </p:attrNameLst>
                                      </p:cBhvr>
                                      <p:to>
                                        <p:strVal val="visible"/>
                                      </p:to>
                                    </p:set>
                                    <p:animEffect filter="fade" transition="in">
                                      <p:cBhvr>
                                        <p:cTn dur="500"/>
                                        <p:tgtEl>
                                          <p:spTgt spid="175">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9" name="Shape 179"/>
        <p:cNvGrpSpPr/>
        <p:nvPr/>
      </p:nvGrpSpPr>
      <p:grpSpPr>
        <a:xfrm>
          <a:off x="0" y="0"/>
          <a:ext cx="0" cy="0"/>
          <a:chOff x="0" y="0"/>
          <a:chExt cx="0" cy="0"/>
        </a:xfrm>
      </p:grpSpPr>
      <p:sp>
        <p:nvSpPr>
          <p:cNvPr id="180" name="Google Shape;180;p15"/>
          <p:cNvSpPr txBox="1"/>
          <p:nvPr>
            <p:ph type="title"/>
          </p:nvPr>
        </p:nvSpPr>
        <p:spPr>
          <a:xfrm>
            <a:off x="457200" y="704088"/>
            <a:ext cx="8229600" cy="58177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Constantia"/>
              <a:buNone/>
            </a:pPr>
            <a:r>
              <a:rPr lang="es-ES" sz="3200"/>
              <a:t>    Ejemplo</a:t>
            </a:r>
            <a:endParaRPr sz="3200"/>
          </a:p>
        </p:txBody>
      </p:sp>
      <p:sp>
        <p:nvSpPr>
          <p:cNvPr id="181" name="Google Shape;181;p15"/>
          <p:cNvSpPr txBox="1"/>
          <p:nvPr>
            <p:ph idx="1" type="body"/>
          </p:nvPr>
        </p:nvSpPr>
        <p:spPr>
          <a:xfrm>
            <a:off x="428596" y="1714488"/>
            <a:ext cx="8229600" cy="4857784"/>
          </a:xfrm>
          <a:prstGeom prst="rect">
            <a:avLst/>
          </a:prstGeom>
          <a:noFill/>
          <a:ln>
            <a:noFill/>
          </a:ln>
        </p:spPr>
        <p:txBody>
          <a:bodyPr anchorCtr="0" anchor="t" bIns="45700" lIns="91425" spcFirstLastPara="1" rIns="91425" wrap="square" tIns="45700">
            <a:normAutofit/>
          </a:bodyPr>
          <a:lstStyle/>
          <a:p>
            <a:pPr indent="-274320" lvl="0" marL="274320" rtl="0" algn="just">
              <a:lnSpc>
                <a:spcPct val="80000"/>
              </a:lnSpc>
              <a:spcBef>
                <a:spcPts val="0"/>
              </a:spcBef>
              <a:spcAft>
                <a:spcPts val="0"/>
              </a:spcAft>
              <a:buSzPts val="2285"/>
              <a:buNone/>
            </a:pPr>
            <a:r>
              <a:rPr lang="es-ES" sz="2405"/>
              <a:t>       Una empresa debe optar entre reparar una máquina o adquirir una nueva.</a:t>
            </a:r>
            <a:endParaRPr/>
          </a:p>
          <a:p>
            <a:pPr indent="-274320" lvl="0" marL="274320" rtl="0" algn="just">
              <a:lnSpc>
                <a:spcPct val="80000"/>
              </a:lnSpc>
              <a:spcBef>
                <a:spcPts val="481"/>
              </a:spcBef>
              <a:spcAft>
                <a:spcPts val="0"/>
              </a:spcAft>
              <a:buSzPts val="2285"/>
              <a:buNone/>
            </a:pPr>
            <a:r>
              <a:rPr lang="es-ES" sz="2405"/>
              <a:t>       La vieja podría venderse por $ 12.000. Le quedan dos años de uso y su valor de recupero allí sería de $ 1.500. Produce 2.000 unidades mensuales y genera costos totales de $ 3.800 por mes.</a:t>
            </a:r>
            <a:endParaRPr/>
          </a:p>
          <a:p>
            <a:pPr indent="-274320" lvl="0" marL="274320" rtl="0" algn="just">
              <a:lnSpc>
                <a:spcPct val="80000"/>
              </a:lnSpc>
              <a:spcBef>
                <a:spcPts val="481"/>
              </a:spcBef>
              <a:spcAft>
                <a:spcPts val="0"/>
              </a:spcAft>
              <a:buSzPts val="2285"/>
              <a:buNone/>
            </a:pPr>
            <a:r>
              <a:rPr lang="es-ES" sz="2405"/>
              <a:t>        La nueva se compraría a $ 65.000, con una vida útil de 5 años y un valor de recupero estimado de $ 3.500. Produciría 2.500 unidades mensuales con un gasto total de $ 3.100 por mes.</a:t>
            </a:r>
            <a:endParaRPr/>
          </a:p>
          <a:p>
            <a:pPr indent="-274320" lvl="0" marL="274320" rtl="0" algn="just">
              <a:lnSpc>
                <a:spcPct val="80000"/>
              </a:lnSpc>
              <a:spcBef>
                <a:spcPts val="481"/>
              </a:spcBef>
              <a:spcAft>
                <a:spcPts val="0"/>
              </a:spcAft>
              <a:buSzPts val="2285"/>
              <a:buNone/>
            </a:pPr>
            <a:r>
              <a:rPr lang="es-ES" sz="2405"/>
              <a:t>        El precio de venta de las unidades es de $ 4 y se estima será de $ 5 a partir del tercer año.</a:t>
            </a:r>
            <a:endParaRPr/>
          </a:p>
          <a:p>
            <a:pPr indent="-274320" lvl="0" marL="274320" rtl="0" algn="just">
              <a:lnSpc>
                <a:spcPct val="80000"/>
              </a:lnSpc>
              <a:spcBef>
                <a:spcPts val="481"/>
              </a:spcBef>
              <a:spcAft>
                <a:spcPts val="0"/>
              </a:spcAft>
              <a:buSzPts val="2285"/>
              <a:buNone/>
            </a:pPr>
            <a:r>
              <a:rPr lang="es-ES" sz="2405"/>
              <a:t>        ¿Qué alternativa es más redituable, considerando una TREMA del 12 % n.a.? </a:t>
            </a:r>
            <a:endParaRPr/>
          </a:p>
          <a:p>
            <a:pPr indent="-274320" lvl="0" marL="274320" rtl="0" algn="l">
              <a:lnSpc>
                <a:spcPct val="80000"/>
              </a:lnSpc>
              <a:spcBef>
                <a:spcPts val="481"/>
              </a:spcBef>
              <a:spcAft>
                <a:spcPts val="0"/>
              </a:spcAft>
              <a:buSzPts val="2285"/>
              <a:buNone/>
            </a:pPr>
            <a:r>
              <a:rPr lang="es-ES" sz="2405"/>
              <a:t>       </a:t>
            </a:r>
            <a:endParaRPr sz="2405"/>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animEffect filter="fade" transition="in">
                                      <p:cBhvr>
                                        <p:cTn dur="500"/>
                                        <p:tgtEl>
                                          <p:spTgt spid="1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animEffect filter="fade" transition="in">
                                      <p:cBhvr>
                                        <p:cTn dur="500"/>
                                        <p:tgtEl>
                                          <p:spTgt spid="1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2" st="2"/>
                                            </p:txEl>
                                          </p:spTgt>
                                        </p:tgtEl>
                                        <p:attrNameLst>
                                          <p:attrName>style.visibility</p:attrName>
                                        </p:attrNameLst>
                                      </p:cBhvr>
                                      <p:to>
                                        <p:strVal val="visible"/>
                                      </p:to>
                                    </p:set>
                                    <p:animEffect filter="fade" transition="in">
                                      <p:cBhvr>
                                        <p:cTn dur="500"/>
                                        <p:tgtEl>
                                          <p:spTgt spid="18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3" st="3"/>
                                            </p:txEl>
                                          </p:spTgt>
                                        </p:tgtEl>
                                        <p:attrNameLst>
                                          <p:attrName>style.visibility</p:attrName>
                                        </p:attrNameLst>
                                      </p:cBhvr>
                                      <p:to>
                                        <p:strVal val="visible"/>
                                      </p:to>
                                    </p:set>
                                    <p:animEffect filter="fade" transition="in">
                                      <p:cBhvr>
                                        <p:cTn dur="500"/>
                                        <p:tgtEl>
                                          <p:spTgt spid="18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4" st="4"/>
                                            </p:txEl>
                                          </p:spTgt>
                                        </p:tgtEl>
                                        <p:attrNameLst>
                                          <p:attrName>style.visibility</p:attrName>
                                        </p:attrNameLst>
                                      </p:cBhvr>
                                      <p:to>
                                        <p:strVal val="visible"/>
                                      </p:to>
                                    </p:set>
                                    <p:animEffect filter="fade" transition="in">
                                      <p:cBhvr>
                                        <p:cTn dur="500"/>
                                        <p:tgtEl>
                                          <p:spTgt spid="18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5" st="5"/>
                                            </p:txEl>
                                          </p:spTgt>
                                        </p:tgtEl>
                                        <p:attrNameLst>
                                          <p:attrName>style.visibility</p:attrName>
                                        </p:attrNameLst>
                                      </p:cBhvr>
                                      <p:to>
                                        <p:strVal val="visible"/>
                                      </p:to>
                                    </p:set>
                                    <p:animEffect filter="fade" transition="in">
                                      <p:cBhvr>
                                        <p:cTn dur="500"/>
                                        <p:tgtEl>
                                          <p:spTgt spid="18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lujo">
  <a:themeElements>
    <a:clrScheme name="Técnico">
      <a:dk1>
        <a:srgbClr val="000000"/>
      </a:dk1>
      <a:lt1>
        <a:srgbClr val="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